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molika Shinde" initials="AS" lastIdx="1" clrIdx="0">
    <p:extLst>
      <p:ext uri="{19B8F6BF-5375-455C-9EA6-DF929625EA0E}">
        <p15:presenceInfo xmlns:p15="http://schemas.microsoft.com/office/powerpoint/2012/main" userId="01cbef42ad25ae4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3724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sv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png"/><Relationship Id="rId9" Type="http://schemas.openxmlformats.org/officeDocument/2006/relationships/image" Target="../media/image3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12" Type="http://schemas.openxmlformats.org/officeDocument/2006/relationships/image" Target="../media/image5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svg"/><Relationship Id="rId5" Type="http://schemas.openxmlformats.org/officeDocument/2006/relationships/image" Target="../media/image46.png"/><Relationship Id="rId10" Type="http://schemas.openxmlformats.org/officeDocument/2006/relationships/image" Target="../media/image51.svg"/><Relationship Id="rId4" Type="http://schemas.openxmlformats.org/officeDocument/2006/relationships/image" Target="../media/image45.png"/><Relationship Id="rId9" Type="http://schemas.openxmlformats.org/officeDocument/2006/relationships/image" Target="../media/image5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alphaModFix amt="18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0"/>
            <a:ext cx="4114800" cy="25717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48" y="2819155"/>
            <a:ext cx="3200400" cy="2057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17190"/>
            <a:ext cx="9144000" cy="476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212952"/>
            <a:ext cx="9144000" cy="4763"/>
          </a:xfrm>
          <a:prstGeom prst="rect">
            <a:avLst/>
          </a:prstGeom>
        </p:spPr>
      </p:pic>
      <p:sp>
        <p:nvSpPr>
          <p:cNvPr id="8" name="Shape 0"/>
          <p:cNvSpPr/>
          <p:nvPr/>
        </p:nvSpPr>
        <p:spPr>
          <a:xfrm>
            <a:off x="0" y="4428232"/>
            <a:ext cx="9144000" cy="714375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9" name="Text 1"/>
          <p:cNvSpPr/>
          <p:nvPr/>
        </p:nvSpPr>
        <p:spPr>
          <a:xfrm>
            <a:off x="548580" y="4579739"/>
            <a:ext cx="2732447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220" b="1" dirty="0">
              <a:solidFill>
                <a:srgbClr val="BFDBFE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0" indent="0" algn="l">
              <a:buNone/>
            </a:pPr>
            <a:r>
              <a:rPr lang="en-US" sz="1220" b="1" dirty="0">
                <a:solidFill>
                  <a:srgbClr val="BFDB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by: </a:t>
            </a:r>
            <a:r>
              <a:rPr lang="en-US" sz="1220" b="1" dirty="0" err="1">
                <a:solidFill>
                  <a:srgbClr val="BFDB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Deokar</a:t>
            </a:r>
            <a:r>
              <a:rPr lang="en-US" sz="1220" b="1" dirty="0">
                <a:solidFill>
                  <a:srgbClr val="BFDB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Aditya – 166</a:t>
            </a:r>
          </a:p>
          <a:p>
            <a:pPr marL="0" indent="0" algn="l">
              <a:buNone/>
            </a:pPr>
            <a:r>
              <a:rPr lang="en-US" sz="1220" b="1" dirty="0">
                <a:solidFill>
                  <a:srgbClr val="BFDBFE"/>
                </a:solidFill>
                <a:latin typeface="Montserrat" pitchFamily="34" charset="0"/>
              </a:rPr>
              <a:t>	    Palande Siddharth – 64</a:t>
            </a:r>
          </a:p>
          <a:p>
            <a:pPr marL="0" indent="0" algn="l">
              <a:buNone/>
            </a:pPr>
            <a:r>
              <a:rPr lang="en-US" sz="1220" b="1" dirty="0">
                <a:solidFill>
                  <a:srgbClr val="BFDBFE"/>
                </a:solidFill>
                <a:latin typeface="Montserrat" pitchFamily="34" charset="0"/>
              </a:rPr>
              <a:t>	    </a:t>
            </a:r>
            <a:r>
              <a:rPr lang="en-US" sz="1220" b="1" dirty="0" err="1">
                <a:solidFill>
                  <a:srgbClr val="BFDBFE"/>
                </a:solidFill>
                <a:latin typeface="Montserrat" pitchFamily="34" charset="0"/>
              </a:rPr>
              <a:t>Deokar</a:t>
            </a:r>
            <a:r>
              <a:rPr lang="en-US" sz="1220" b="1" dirty="0">
                <a:solidFill>
                  <a:srgbClr val="BFDBFE"/>
                </a:solidFill>
                <a:latin typeface="Montserrat" pitchFamily="34" charset="0"/>
              </a:rPr>
              <a:t> Sai -66</a:t>
            </a:r>
            <a:endParaRPr lang="en-US" sz="1220" dirty="0"/>
          </a:p>
        </p:txBody>
      </p:sp>
      <p:sp>
        <p:nvSpPr>
          <p:cNvPr id="10" name="Text 2"/>
          <p:cNvSpPr/>
          <p:nvPr/>
        </p:nvSpPr>
        <p:spPr>
          <a:xfrm>
            <a:off x="548580" y="4818757"/>
            <a:ext cx="132519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2"/>
              </a:spcBef>
              <a:buNone/>
            </a:pPr>
            <a:endParaRPr lang="en-US" sz="1080" dirty="0"/>
          </a:p>
        </p:txBody>
      </p:sp>
      <p:sp>
        <p:nvSpPr>
          <p:cNvPr id="11" name="Text 3"/>
          <p:cNvSpPr/>
          <p:nvPr/>
        </p:nvSpPr>
        <p:spPr>
          <a:xfrm>
            <a:off x="5931753" y="4583906"/>
            <a:ext cx="266366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080" dirty="0">
                <a:solidFill>
                  <a:srgbClr val="7FB3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B.Tech – Computer Engineering</a:t>
            </a:r>
            <a:endParaRPr lang="en-US" sz="1080" dirty="0"/>
          </a:p>
        </p:txBody>
      </p:sp>
      <p:sp>
        <p:nvSpPr>
          <p:cNvPr id="12" name="Text 4"/>
          <p:cNvSpPr/>
          <p:nvPr/>
        </p:nvSpPr>
        <p:spPr>
          <a:xfrm>
            <a:off x="7511199" y="4804990"/>
            <a:ext cx="108422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spcBef>
                <a:spcPts val="122"/>
              </a:spcBef>
              <a:buNone/>
            </a:pPr>
            <a:r>
              <a:rPr lang="en-US" sz="1080" dirty="0">
                <a:solidFill>
                  <a:srgbClr val="7FB3F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Third Year</a:t>
            </a:r>
            <a:endParaRPr lang="en-US" sz="108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0" y="4428232"/>
            <a:ext cx="9144000" cy="714375"/>
          </a:xfrm>
          <a:prstGeom prst="rect">
            <a:avLst/>
          </a:prstGeom>
        </p:spPr>
      </p:pic>
      <p:sp>
        <p:nvSpPr>
          <p:cNvPr id="14" name="Shape 5"/>
          <p:cNvSpPr/>
          <p:nvPr/>
        </p:nvSpPr>
        <p:spPr>
          <a:xfrm>
            <a:off x="3459919" y="1784152"/>
            <a:ext cx="2224088" cy="285750"/>
          </a:xfrm>
          <a:prstGeom prst="roundRect">
            <a:avLst>
              <a:gd name="adj" fmla="val 16000"/>
            </a:avLst>
          </a:prstGeom>
          <a:solidFill>
            <a:srgbClr val="2563EB">
              <a:alpha val="30000"/>
            </a:srgbClr>
          </a:solidFill>
          <a:ln w="4763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15" name="Text 6"/>
          <p:cNvSpPr/>
          <p:nvPr/>
        </p:nvSpPr>
        <p:spPr>
          <a:xfrm>
            <a:off x="3401054" y="1833711"/>
            <a:ext cx="234181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80" b="1" kern="0" spc="270" dirty="0">
                <a:solidFill>
                  <a:srgbClr val="93C5F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STRUCTURES</a:t>
            </a:r>
            <a:endParaRPr lang="en-US" sz="1080" dirty="0"/>
          </a:p>
        </p:txBody>
      </p:sp>
      <p:sp>
        <p:nvSpPr>
          <p:cNvPr id="16" name="Text 7"/>
          <p:cNvSpPr/>
          <p:nvPr/>
        </p:nvSpPr>
        <p:spPr>
          <a:xfrm>
            <a:off x="825483" y="2122512"/>
            <a:ext cx="7493035" cy="757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900" b="1" kern="0" spc="-147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Greedy Algorithm</a:t>
            </a:r>
            <a:endParaRPr lang="en-US" sz="49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31407" y="2938797"/>
            <a:ext cx="1281112" cy="23812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1669331" y="3095179"/>
            <a:ext cx="580533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4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Step-by-Step Approach to Optimization Problems</a:t>
            </a:r>
            <a:endParaRPr lang="en-US" sz="14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0"/>
            <a:ext cx="9144000" cy="923925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4" name="Text 2"/>
          <p:cNvSpPr/>
          <p:nvPr/>
        </p:nvSpPr>
        <p:spPr>
          <a:xfrm>
            <a:off x="548580" y="258812"/>
            <a:ext cx="1758389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90" b="1" kern="0" spc="-5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</a:t>
            </a:r>
            <a:endParaRPr lang="en-US" sz="2590" dirty="0"/>
          </a:p>
        </p:txBody>
      </p:sp>
      <p:sp>
        <p:nvSpPr>
          <p:cNvPr id="5" name="Shape 3"/>
          <p:cNvSpPr/>
          <p:nvPr/>
        </p:nvSpPr>
        <p:spPr>
          <a:xfrm>
            <a:off x="0" y="902308"/>
            <a:ext cx="9144000" cy="238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580" y="1844948"/>
            <a:ext cx="3448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580" dirty="0"/>
          </a:p>
        </p:txBody>
      </p:sp>
      <p:sp>
        <p:nvSpPr>
          <p:cNvPr id="7" name="Text 5"/>
          <p:cNvSpPr/>
          <p:nvPr/>
        </p:nvSpPr>
        <p:spPr>
          <a:xfrm>
            <a:off x="1051396" y="1844278"/>
            <a:ext cx="143267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Introduction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548580" y="2259732"/>
            <a:ext cx="39447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580" dirty="0"/>
          </a:p>
        </p:txBody>
      </p:sp>
      <p:sp>
        <p:nvSpPr>
          <p:cNvPr id="9" name="Text 7"/>
          <p:cNvSpPr/>
          <p:nvPr/>
        </p:nvSpPr>
        <p:spPr>
          <a:xfrm>
            <a:off x="1051396" y="2259062"/>
            <a:ext cx="114236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Definition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548580" y="2674516"/>
            <a:ext cx="39612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580" dirty="0"/>
          </a:p>
        </p:txBody>
      </p:sp>
      <p:sp>
        <p:nvSpPr>
          <p:cNvPr id="11" name="Text 9"/>
          <p:cNvSpPr/>
          <p:nvPr/>
        </p:nvSpPr>
        <p:spPr>
          <a:xfrm>
            <a:off x="1051396" y="2673846"/>
            <a:ext cx="168825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Characteristics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548580" y="3089300"/>
            <a:ext cx="42436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580" dirty="0"/>
          </a:p>
        </p:txBody>
      </p:sp>
      <p:sp>
        <p:nvSpPr>
          <p:cNvPr id="13" name="Text 11"/>
          <p:cNvSpPr/>
          <p:nvPr/>
        </p:nvSpPr>
        <p:spPr>
          <a:xfrm>
            <a:off x="1051396" y="3088630"/>
            <a:ext cx="327602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Working of Greedy Algorithm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548580" y="3504084"/>
            <a:ext cx="39999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580" dirty="0"/>
          </a:p>
        </p:txBody>
      </p:sp>
      <p:sp>
        <p:nvSpPr>
          <p:cNvPr id="15" name="Text 13"/>
          <p:cNvSpPr/>
          <p:nvPr/>
        </p:nvSpPr>
        <p:spPr>
          <a:xfrm>
            <a:off x="1051396" y="3503414"/>
            <a:ext cx="141680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Pseudocode</a:t>
            </a:r>
            <a:endParaRPr lang="en-US" sz="1440" dirty="0"/>
          </a:p>
        </p:txBody>
      </p:sp>
      <p:sp>
        <p:nvSpPr>
          <p:cNvPr id="16" name="Text 14"/>
          <p:cNvSpPr/>
          <p:nvPr/>
        </p:nvSpPr>
        <p:spPr>
          <a:xfrm>
            <a:off x="548580" y="3918868"/>
            <a:ext cx="41101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580" dirty="0"/>
          </a:p>
        </p:txBody>
      </p:sp>
      <p:sp>
        <p:nvSpPr>
          <p:cNvPr id="17" name="Text 15"/>
          <p:cNvSpPr/>
          <p:nvPr/>
        </p:nvSpPr>
        <p:spPr>
          <a:xfrm>
            <a:off x="1051396" y="3918198"/>
            <a:ext cx="1272763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Case Study</a:t>
            </a:r>
            <a:endParaRPr lang="en-US" sz="1440" dirty="0"/>
          </a:p>
        </p:txBody>
      </p:sp>
      <p:sp>
        <p:nvSpPr>
          <p:cNvPr id="18" name="Shape 16"/>
          <p:cNvSpPr/>
          <p:nvPr/>
        </p:nvSpPr>
        <p:spPr>
          <a:xfrm>
            <a:off x="4569619" y="1132545"/>
            <a:ext cx="4763" cy="3752850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031581" y="2052340"/>
            <a:ext cx="40676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1580" dirty="0"/>
          </a:p>
        </p:txBody>
      </p:sp>
      <p:sp>
        <p:nvSpPr>
          <p:cNvPr id="20" name="Text 18"/>
          <p:cNvSpPr/>
          <p:nvPr/>
        </p:nvSpPr>
        <p:spPr>
          <a:xfrm>
            <a:off x="5534397" y="2051670"/>
            <a:ext cx="134202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Advantages</a:t>
            </a:r>
            <a:endParaRPr lang="en-US" sz="1440" dirty="0"/>
          </a:p>
        </p:txBody>
      </p:sp>
      <p:sp>
        <p:nvSpPr>
          <p:cNvPr id="21" name="Text 19"/>
          <p:cNvSpPr/>
          <p:nvPr/>
        </p:nvSpPr>
        <p:spPr>
          <a:xfrm>
            <a:off x="5031581" y="2467124"/>
            <a:ext cx="41546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1580" dirty="0"/>
          </a:p>
        </p:txBody>
      </p:sp>
      <p:sp>
        <p:nvSpPr>
          <p:cNvPr id="22" name="Text 20"/>
          <p:cNvSpPr/>
          <p:nvPr/>
        </p:nvSpPr>
        <p:spPr>
          <a:xfrm>
            <a:off x="5534397" y="2466454"/>
            <a:ext cx="166958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Disadvantages</a:t>
            </a:r>
            <a:endParaRPr lang="en-US" sz="1440" dirty="0"/>
          </a:p>
        </p:txBody>
      </p:sp>
      <p:sp>
        <p:nvSpPr>
          <p:cNvPr id="23" name="Text 21"/>
          <p:cNvSpPr/>
          <p:nvPr/>
        </p:nvSpPr>
        <p:spPr>
          <a:xfrm>
            <a:off x="5031581" y="2881908"/>
            <a:ext cx="41101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1580" dirty="0"/>
          </a:p>
        </p:txBody>
      </p:sp>
      <p:sp>
        <p:nvSpPr>
          <p:cNvPr id="24" name="Text 22"/>
          <p:cNvSpPr/>
          <p:nvPr/>
        </p:nvSpPr>
        <p:spPr>
          <a:xfrm>
            <a:off x="5534397" y="2881238"/>
            <a:ext cx="141100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Applications</a:t>
            </a:r>
            <a:endParaRPr lang="en-US" sz="1440" dirty="0"/>
          </a:p>
        </p:txBody>
      </p:sp>
      <p:sp>
        <p:nvSpPr>
          <p:cNvPr id="25" name="Text 23"/>
          <p:cNvSpPr/>
          <p:nvPr/>
        </p:nvSpPr>
        <p:spPr>
          <a:xfrm>
            <a:off x="5031581" y="3296692"/>
            <a:ext cx="34746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580" dirty="0"/>
          </a:p>
        </p:txBody>
      </p:sp>
      <p:sp>
        <p:nvSpPr>
          <p:cNvPr id="26" name="Text 24"/>
          <p:cNvSpPr/>
          <p:nvPr/>
        </p:nvSpPr>
        <p:spPr>
          <a:xfrm>
            <a:off x="5534397" y="3296022"/>
            <a:ext cx="127731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Conclusion</a:t>
            </a:r>
            <a:endParaRPr lang="en-US" sz="1440" dirty="0"/>
          </a:p>
        </p:txBody>
      </p:sp>
      <p:sp>
        <p:nvSpPr>
          <p:cNvPr id="27" name="Text 25"/>
          <p:cNvSpPr/>
          <p:nvPr/>
        </p:nvSpPr>
        <p:spPr>
          <a:xfrm>
            <a:off x="5031581" y="3711476"/>
            <a:ext cx="27577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1580" dirty="0"/>
          </a:p>
        </p:txBody>
      </p:sp>
      <p:sp>
        <p:nvSpPr>
          <p:cNvPr id="28" name="Text 26"/>
          <p:cNvSpPr/>
          <p:nvPr/>
        </p:nvSpPr>
        <p:spPr>
          <a:xfrm>
            <a:off x="5534397" y="3710806"/>
            <a:ext cx="128775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1E293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References</a:t>
            </a:r>
            <a:endParaRPr lang="en-US" sz="14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0"/>
            <a:ext cx="9144000" cy="923925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4" name="Text 2"/>
          <p:cNvSpPr/>
          <p:nvPr/>
        </p:nvSpPr>
        <p:spPr>
          <a:xfrm>
            <a:off x="548580" y="258812"/>
            <a:ext cx="2774819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90" b="1" kern="0" spc="-5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</a:t>
            </a:r>
            <a:endParaRPr lang="en-US" sz="2590" dirty="0"/>
          </a:p>
        </p:txBody>
      </p:sp>
      <p:sp>
        <p:nvSpPr>
          <p:cNvPr id="5" name="Shape 3"/>
          <p:cNvSpPr/>
          <p:nvPr/>
        </p:nvSpPr>
        <p:spPr>
          <a:xfrm>
            <a:off x="0" y="902308"/>
            <a:ext cx="9144000" cy="238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49064" y="1028254"/>
            <a:ext cx="2528888" cy="3910012"/>
          </a:xfrm>
          <a:prstGeom prst="roundRect">
            <a:avLst>
              <a:gd name="adj" fmla="val 3616"/>
            </a:avLst>
          </a:prstGeom>
          <a:solidFill>
            <a:srgbClr val="FFFFFF"/>
          </a:solidFill>
          <a:ln/>
          <a:effectLst>
            <a:outerShdw blurRad="76200" dist="9525" dir="5400000" algn="bl" rotWithShape="0">
              <a:srgbClr val="1E3A6E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6213" y="1205805"/>
            <a:ext cx="504825" cy="504825"/>
          </a:xfrm>
          <a:prstGeom prst="ellipse">
            <a:avLst/>
          </a:prstGeom>
          <a:solidFill>
            <a:srgbClr val="2563EB">
              <a:alpha val="10000"/>
            </a:srgbClr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26" y="1343918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180" y="1836316"/>
            <a:ext cx="1606510" cy="47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1E3A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Optimization</a:t>
            </a:r>
            <a:endParaRPr lang="en-US" sz="1370" dirty="0"/>
          </a:p>
          <a:p>
            <a:pPr marL="0" indent="0" algn="l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1E3A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Problems</a:t>
            </a:r>
            <a:endParaRPr lang="en-US" sz="1370" dirty="0"/>
          </a:p>
        </p:txBody>
      </p:sp>
      <p:sp>
        <p:nvSpPr>
          <p:cNvPr id="10" name="Text 7"/>
          <p:cNvSpPr/>
          <p:nvPr/>
        </p:nvSpPr>
        <p:spPr>
          <a:xfrm>
            <a:off x="777180" y="2425080"/>
            <a:ext cx="2683111" cy="1411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1"/>
              </a:lnSpc>
              <a:buNone/>
            </a:pPr>
            <a:r>
              <a:rPr lang="en-US" sz="119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Problems where we seek the</a:t>
            </a:r>
            <a:endParaRPr lang="en-US" sz="1190" dirty="0"/>
          </a:p>
          <a:p>
            <a:pPr marL="0" indent="0" algn="l">
              <a:lnSpc>
                <a:spcPts val="1901"/>
              </a:lnSpc>
              <a:buNone/>
            </a:pPr>
            <a:r>
              <a:rPr lang="en-US" sz="1190" b="1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solution</a:t>
            </a:r>
            <a:r>
              <a:rPr lang="en-US" sz="119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from all</a:t>
            </a:r>
            <a:endParaRPr lang="en-US" sz="1190" dirty="0"/>
          </a:p>
          <a:p>
            <a:pPr marL="0" indent="0" algn="l">
              <a:lnSpc>
                <a:spcPts val="1901"/>
              </a:lnSpc>
              <a:buNone/>
            </a:pPr>
            <a:r>
              <a:rPr lang="en-US" sz="119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feasible solutions —</a:t>
            </a:r>
            <a:endParaRPr lang="en-US" sz="1190" dirty="0"/>
          </a:p>
          <a:p>
            <a:pPr marL="0" indent="0" algn="l">
              <a:lnSpc>
                <a:spcPts val="1901"/>
              </a:lnSpc>
              <a:buNone/>
            </a:pPr>
            <a:r>
              <a:rPr lang="en-US" sz="119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maximizing profit,</a:t>
            </a:r>
            <a:endParaRPr lang="en-US" sz="1190" dirty="0"/>
          </a:p>
          <a:p>
            <a:pPr marL="0" indent="0" algn="l">
              <a:lnSpc>
                <a:spcPts val="1901"/>
              </a:lnSpc>
              <a:buNone/>
            </a:pPr>
            <a:r>
              <a:rPr lang="en-US" sz="119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minimizing cost, or finding</a:t>
            </a:r>
            <a:endParaRPr lang="en-US" sz="1190" dirty="0"/>
          </a:p>
          <a:p>
            <a:pPr marL="0" indent="0" algn="l">
              <a:lnSpc>
                <a:spcPts val="1901"/>
              </a:lnSpc>
              <a:buNone/>
            </a:pPr>
            <a:r>
              <a:rPr lang="en-US" sz="119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shortest path.</a:t>
            </a:r>
            <a:endParaRPr lang="en-US" sz="1190" dirty="0"/>
          </a:p>
        </p:txBody>
      </p:sp>
      <p:sp>
        <p:nvSpPr>
          <p:cNvPr id="11" name="Shape 8"/>
          <p:cNvSpPr/>
          <p:nvPr/>
        </p:nvSpPr>
        <p:spPr>
          <a:xfrm>
            <a:off x="3307519" y="1028254"/>
            <a:ext cx="2528888" cy="3910012"/>
          </a:xfrm>
          <a:prstGeom prst="roundRect">
            <a:avLst>
              <a:gd name="adj" fmla="val 3616"/>
            </a:avLst>
          </a:prstGeom>
          <a:solidFill>
            <a:srgbClr val="1E3A6E"/>
          </a:solidFill>
          <a:ln/>
          <a:effectLst>
            <a:outerShdw blurRad="76200" dist="9525" dir="5400000" algn="bl" rotWithShape="0">
              <a:srgbClr val="1E3A6E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34668" y="1181993"/>
            <a:ext cx="504825" cy="504825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2780" y="1320105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35635" y="1812503"/>
            <a:ext cx="1517124" cy="470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Greedy</a:t>
            </a:r>
            <a:endParaRPr lang="en-US" sz="1370" dirty="0"/>
          </a:p>
          <a:p>
            <a:pPr marL="0" indent="0" algn="l">
              <a:lnSpc>
                <a:spcPts val="2052"/>
              </a:lnSpc>
              <a:buNone/>
            </a:pPr>
            <a:r>
              <a:rPr lang="en-US" sz="137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Algorithms?</a:t>
            </a:r>
            <a:endParaRPr lang="en-US" sz="1370" dirty="0"/>
          </a:p>
        </p:txBody>
      </p:sp>
      <p:sp>
        <p:nvSpPr>
          <p:cNvPr id="15" name="Text 11"/>
          <p:cNvSpPr/>
          <p:nvPr/>
        </p:nvSpPr>
        <p:spPr>
          <a:xfrm>
            <a:off x="3535635" y="2401267"/>
            <a:ext cx="2694042" cy="1170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1"/>
              </a:lnSpc>
              <a:buNone/>
            </a:pPr>
            <a:r>
              <a:rPr lang="en-US" sz="119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Instead of exploring every</a:t>
            </a:r>
            <a:endParaRPr lang="en-US" sz="1190" dirty="0"/>
          </a:p>
          <a:p>
            <a:pPr marL="0" indent="0" algn="l">
              <a:lnSpc>
                <a:spcPts val="1901"/>
              </a:lnSpc>
              <a:buNone/>
            </a:pPr>
            <a:r>
              <a:rPr lang="en-US" sz="119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possibility, greedy makes the</a:t>
            </a:r>
            <a:endParaRPr lang="en-US" sz="1190" dirty="0"/>
          </a:p>
          <a:p>
            <a:pPr marL="0" indent="0" algn="l">
              <a:lnSpc>
                <a:spcPts val="1901"/>
              </a:lnSpc>
              <a:buNone/>
            </a:pPr>
            <a:r>
              <a:rPr lang="en-US" sz="119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locally best choice at each</a:t>
            </a:r>
            <a:endParaRPr lang="en-US" sz="1190" dirty="0"/>
          </a:p>
          <a:p>
            <a:pPr marL="0" indent="0" algn="l">
              <a:lnSpc>
                <a:spcPts val="1901"/>
              </a:lnSpc>
              <a:buNone/>
            </a:pPr>
            <a:r>
              <a:rPr lang="en-US" sz="119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</a:t>
            </a:r>
            <a:r>
              <a:rPr lang="en-US" sz="119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making it fast and</a:t>
            </a:r>
            <a:endParaRPr lang="en-US" sz="1190" dirty="0"/>
          </a:p>
          <a:p>
            <a:pPr marL="0" indent="0" algn="l">
              <a:lnSpc>
                <a:spcPts val="1901"/>
              </a:lnSpc>
              <a:buNone/>
            </a:pPr>
            <a:r>
              <a:rPr lang="en-US" sz="119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easy to implement.</a:t>
            </a:r>
            <a:endParaRPr lang="en-US" sz="1190" dirty="0"/>
          </a:p>
        </p:txBody>
      </p:sp>
      <p:sp>
        <p:nvSpPr>
          <p:cNvPr id="16" name="Shape 12"/>
          <p:cNvSpPr/>
          <p:nvPr/>
        </p:nvSpPr>
        <p:spPr>
          <a:xfrm>
            <a:off x="6065974" y="1028254"/>
            <a:ext cx="2528888" cy="3910012"/>
          </a:xfrm>
          <a:prstGeom prst="roundRect">
            <a:avLst>
              <a:gd name="adj" fmla="val 3616"/>
            </a:avLst>
          </a:prstGeom>
          <a:solidFill>
            <a:srgbClr val="FFFFFF"/>
          </a:solidFill>
          <a:ln/>
          <a:effectLst>
            <a:outerShdw blurRad="76200" dist="9525" dir="5400000" algn="bl" rotWithShape="0">
              <a:srgbClr val="1E3A6E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93123" y="1205805"/>
            <a:ext cx="504825" cy="504825"/>
          </a:xfrm>
          <a:prstGeom prst="ellipse">
            <a:avLst/>
          </a:prstGeom>
          <a:solidFill>
            <a:srgbClr val="2563EB">
              <a:alpha val="10000"/>
            </a:srgbClr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1235" y="1343918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94090" y="1836316"/>
            <a:ext cx="2297609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7"/>
              </a:spcAft>
              <a:buNone/>
            </a:pPr>
            <a:r>
              <a:rPr lang="en-US" sz="1370" b="1" dirty="0">
                <a:solidFill>
                  <a:srgbClr val="1E3A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Real-Life Examples</a:t>
            </a:r>
            <a:endParaRPr lang="en-US" sz="1370" dirty="0"/>
          </a:p>
        </p:txBody>
      </p:sp>
      <p:sp>
        <p:nvSpPr>
          <p:cNvPr id="20" name="Text 15"/>
          <p:cNvSpPr/>
          <p:nvPr/>
        </p:nvSpPr>
        <p:spPr>
          <a:xfrm>
            <a:off x="6294090" y="2159719"/>
            <a:ext cx="15234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–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495157" y="2159719"/>
            <a:ext cx="2473479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Coin change (fewest coins)</a:t>
            </a:r>
            <a:endParaRPr lang="en-US" sz="1190" dirty="0"/>
          </a:p>
        </p:txBody>
      </p:sp>
      <p:sp>
        <p:nvSpPr>
          <p:cNvPr id="22" name="Text 17"/>
          <p:cNvSpPr/>
          <p:nvPr/>
        </p:nvSpPr>
        <p:spPr>
          <a:xfrm>
            <a:off x="6294090" y="2447776"/>
            <a:ext cx="15234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–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6495157" y="2447776"/>
            <a:ext cx="1820689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GPS route planning</a:t>
            </a:r>
            <a:endParaRPr lang="en-US" sz="1190" dirty="0"/>
          </a:p>
        </p:txBody>
      </p:sp>
      <p:sp>
        <p:nvSpPr>
          <p:cNvPr id="24" name="Text 19"/>
          <p:cNvSpPr/>
          <p:nvPr/>
        </p:nvSpPr>
        <p:spPr>
          <a:xfrm>
            <a:off x="6294090" y="2735833"/>
            <a:ext cx="15234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–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6495157" y="2735833"/>
            <a:ext cx="1505225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9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Task scheduling</a:t>
            </a:r>
            <a:endParaRPr lang="en-US" sz="119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9064" y="1028254"/>
            <a:ext cx="2528888" cy="3910012"/>
          </a:xfrm>
          <a:prstGeom prst="rect">
            <a:avLst/>
          </a:prstGeom>
        </p:spPr>
      </p:pic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65974" y="1028254"/>
            <a:ext cx="2528888" cy="39100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0"/>
            <a:ext cx="9144000" cy="923925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4" name="Text 2"/>
          <p:cNvSpPr/>
          <p:nvPr/>
        </p:nvSpPr>
        <p:spPr>
          <a:xfrm>
            <a:off x="548580" y="258812"/>
            <a:ext cx="2206384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90" b="1" kern="0" spc="-5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Definition</a:t>
            </a:r>
            <a:endParaRPr lang="en-US" sz="2590" dirty="0"/>
          </a:p>
        </p:txBody>
      </p:sp>
      <p:sp>
        <p:nvSpPr>
          <p:cNvPr id="5" name="Shape 3"/>
          <p:cNvSpPr/>
          <p:nvPr/>
        </p:nvSpPr>
        <p:spPr>
          <a:xfrm>
            <a:off x="0" y="902308"/>
            <a:ext cx="9144000" cy="238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49622" y="1486533"/>
            <a:ext cx="4295775" cy="1423987"/>
          </a:xfrm>
          <a:prstGeom prst="roundRect">
            <a:avLst>
              <a:gd name="adj" fmla="val 6421"/>
            </a:avLst>
          </a:prstGeom>
          <a:solidFill>
            <a:srgbClr val="FFFFFF"/>
          </a:solidFill>
          <a:ln/>
          <a:effectLst>
            <a:outerShdw blurRad="76200" dist="9525" dir="5400000" algn="bl" rotWithShape="0">
              <a:srgbClr val="1E3A6E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0043" y="1659657"/>
            <a:ext cx="328598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607"/>
              </a:spcAft>
              <a:buNone/>
            </a:pPr>
            <a:r>
              <a:rPr lang="en-US" sz="1300" b="1" dirty="0">
                <a:solidFill>
                  <a:srgbClr val="1E3A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a Greedy Algorithm?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0043" y="1983656"/>
            <a:ext cx="4943497" cy="746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78"/>
              </a:lnSpc>
              <a:buNone/>
            </a:pPr>
            <a:r>
              <a:rPr lang="en-US" sz="126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</a:t>
            </a:r>
            <a:r>
              <a:rPr lang="en-US" sz="1260" b="1" dirty="0">
                <a:solidFill>
                  <a:srgbClr val="1E3A6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Greedy Algorithm</a:t>
            </a:r>
            <a:r>
              <a:rPr lang="en-US" sz="126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builds a solution step by step,</a:t>
            </a:r>
            <a:endParaRPr lang="en-US" sz="1260" dirty="0"/>
          </a:p>
          <a:p>
            <a:pPr marL="0" indent="0" algn="l">
              <a:lnSpc>
                <a:spcPts val="2078"/>
              </a:lnSpc>
              <a:buNone/>
            </a:pPr>
            <a:r>
              <a:rPr lang="en-US" sz="126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always choosing the option that looks </a:t>
            </a:r>
            <a:r>
              <a:rPr lang="en-US" sz="126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at that</a:t>
            </a:r>
            <a:endParaRPr lang="en-US" sz="1260" dirty="0"/>
          </a:p>
          <a:p>
            <a:pPr marL="0" indent="0" algn="l">
              <a:lnSpc>
                <a:spcPts val="2078"/>
              </a:lnSpc>
              <a:buNone/>
            </a:pPr>
            <a:r>
              <a:rPr lang="en-US" sz="126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moment</a:t>
            </a:r>
            <a:r>
              <a:rPr lang="en-US" sz="126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without reconsidering past decisions.</a:t>
            </a:r>
            <a:endParaRPr lang="en-US" sz="1260" dirty="0"/>
          </a:p>
        </p:txBody>
      </p:sp>
      <p:sp>
        <p:nvSpPr>
          <p:cNvPr id="9" name="Shape 7"/>
          <p:cNvSpPr/>
          <p:nvPr/>
        </p:nvSpPr>
        <p:spPr>
          <a:xfrm>
            <a:off x="549622" y="3038773"/>
            <a:ext cx="4295775" cy="738188"/>
          </a:xfrm>
          <a:prstGeom prst="roundRect">
            <a:avLst>
              <a:gd name="adj" fmla="val 12387"/>
            </a:avLst>
          </a:prstGeom>
          <a:solidFill>
            <a:srgbClr val="1E3A6E"/>
          </a:solidFill>
          <a:ln/>
          <a:effectLst>
            <a:outerShdw blurRad="76200" dist="9525" dir="5400000" algn="bl" rotWithShape="0">
              <a:srgbClr val="1E3A6E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180" y="3186931"/>
            <a:ext cx="4985385" cy="435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260" b="1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"Make the locally optimal choice at each step</a:t>
            </a:r>
            <a:endParaRPr lang="en-US" sz="126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260" b="1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 the hope of finding the global optimum."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547985" y="3904469"/>
            <a:ext cx="1895475" cy="576262"/>
          </a:xfrm>
          <a:prstGeom prst="roundRect">
            <a:avLst>
              <a:gd name="adj" fmla="val 12694"/>
            </a:avLst>
          </a:prstGeom>
          <a:solidFill>
            <a:srgbClr val="2563EB">
              <a:alpha val="10000"/>
            </a:srgbClr>
          </a:solidFill>
          <a:ln w="4763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3015" y="4005932"/>
            <a:ext cx="159819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Local Optimum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08224" y="4211092"/>
            <a:ext cx="1584551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at current step</a:t>
            </a:r>
            <a:endParaRPr lang="en-US" sz="1010" dirty="0"/>
          </a:p>
        </p:txBody>
      </p:sp>
      <p:sp>
        <p:nvSpPr>
          <p:cNvPr id="14" name="Text 12"/>
          <p:cNvSpPr/>
          <p:nvPr/>
        </p:nvSpPr>
        <p:spPr>
          <a:xfrm>
            <a:off x="2625700" y="4064943"/>
            <a:ext cx="25633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2563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1440" dirty="0"/>
          </a:p>
        </p:txBody>
      </p:sp>
      <p:sp>
        <p:nvSpPr>
          <p:cNvPr id="15" name="Shape 13"/>
          <p:cNvSpPr/>
          <p:nvPr/>
        </p:nvSpPr>
        <p:spPr>
          <a:xfrm>
            <a:off x="2961159" y="3904469"/>
            <a:ext cx="1885950" cy="576262"/>
          </a:xfrm>
          <a:prstGeom prst="roundRect">
            <a:avLst>
              <a:gd name="adj" fmla="val 12694"/>
            </a:avLst>
          </a:prstGeom>
          <a:solidFill>
            <a:srgbClr val="1E3A6E"/>
          </a:solidFill>
          <a:ln/>
        </p:spPr>
      </p:sp>
      <p:sp>
        <p:nvSpPr>
          <p:cNvPr id="16" name="Text 14"/>
          <p:cNvSpPr/>
          <p:nvPr/>
        </p:nvSpPr>
        <p:spPr>
          <a:xfrm>
            <a:off x="3270349" y="4005932"/>
            <a:ext cx="170499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Global Optimum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98701" y="4211092"/>
            <a:ext cx="1631179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overall solution</a:t>
            </a:r>
            <a:endParaRPr lang="en-US" sz="1010" dirty="0"/>
          </a:p>
        </p:txBody>
      </p:sp>
      <p:sp>
        <p:nvSpPr>
          <p:cNvPr id="18" name="Shape 16"/>
          <p:cNvSpPr/>
          <p:nvPr/>
        </p:nvSpPr>
        <p:spPr>
          <a:xfrm>
            <a:off x="5119762" y="1028254"/>
            <a:ext cx="3476625" cy="3910012"/>
          </a:xfrm>
          <a:prstGeom prst="roundRect">
            <a:avLst>
              <a:gd name="adj" fmla="val 2630"/>
            </a:avLst>
          </a:prstGeom>
          <a:solidFill>
            <a:srgbClr val="FFFFFF"/>
          </a:solidFill>
          <a:ln/>
          <a:effectLst>
            <a:outerShdw blurRad="76200" dist="9525" dir="5400000" algn="bl" rotWithShape="0">
              <a:srgbClr val="1E3A6E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1855" y="1838474"/>
            <a:ext cx="220532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1013"/>
              </a:spcAft>
              <a:buNone/>
            </a:pPr>
            <a:r>
              <a:rPr lang="en-US" sz="1150" b="1" dirty="0">
                <a:solidFill>
                  <a:srgbClr val="1E3A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Greedy Decision Path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34162" y="2167458"/>
            <a:ext cx="1647825" cy="25717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  <a:effectLst>
            <a:outerShdw blurRad="57150" dist="19050" dir="5400000" algn="bl" rotWithShape="0">
              <a:srgbClr val="2563EB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82978" y="2212256"/>
            <a:ext cx="512400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853312" y="2449339"/>
            <a:ext cx="9525" cy="10477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Shape 21"/>
          <p:cNvSpPr/>
          <p:nvPr/>
        </p:nvSpPr>
        <p:spPr>
          <a:xfrm>
            <a:off x="5853150" y="2579750"/>
            <a:ext cx="2009775" cy="280987"/>
          </a:xfrm>
          <a:prstGeom prst="roundRect">
            <a:avLst>
              <a:gd name="adj" fmla="val 19525"/>
            </a:avLst>
          </a:prstGeom>
          <a:solidFill>
            <a:srgbClr val="1E3A6E"/>
          </a:solidFill>
          <a:ln/>
        </p:spPr>
      </p:sp>
      <p:sp>
        <p:nvSpPr>
          <p:cNvPr id="24" name="Text 22"/>
          <p:cNvSpPr/>
          <p:nvPr/>
        </p:nvSpPr>
        <p:spPr>
          <a:xfrm>
            <a:off x="6230243" y="2628974"/>
            <a:ext cx="168941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Evaluate Candidates</a:t>
            </a:r>
            <a:endParaRPr lang="en-US" sz="1010" dirty="0"/>
          </a:p>
        </p:txBody>
      </p:sp>
      <p:sp>
        <p:nvSpPr>
          <p:cNvPr id="25" name="Shape 23"/>
          <p:cNvSpPr/>
          <p:nvPr/>
        </p:nvSpPr>
        <p:spPr>
          <a:xfrm>
            <a:off x="6853312" y="2886373"/>
            <a:ext cx="9525" cy="10477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Shape 24"/>
          <p:cNvSpPr/>
          <p:nvPr/>
        </p:nvSpPr>
        <p:spPr>
          <a:xfrm>
            <a:off x="5853150" y="3016783"/>
            <a:ext cx="2009775" cy="280987"/>
          </a:xfrm>
          <a:prstGeom prst="roundRect">
            <a:avLst>
              <a:gd name="adj" fmla="val 19525"/>
            </a:avLst>
          </a:prstGeom>
          <a:solidFill>
            <a:srgbClr val="1E3A6E"/>
          </a:solidFill>
          <a:ln/>
        </p:spPr>
      </p:sp>
      <p:sp>
        <p:nvSpPr>
          <p:cNvPr id="27" name="Text 25"/>
          <p:cNvSpPr/>
          <p:nvPr/>
        </p:nvSpPr>
        <p:spPr>
          <a:xfrm>
            <a:off x="6403032" y="3066008"/>
            <a:ext cx="1240162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Pick Local Best</a:t>
            </a:r>
            <a:endParaRPr lang="en-US" sz="1010" dirty="0"/>
          </a:p>
        </p:txBody>
      </p:sp>
      <p:sp>
        <p:nvSpPr>
          <p:cNvPr id="28" name="Shape 26"/>
          <p:cNvSpPr/>
          <p:nvPr/>
        </p:nvSpPr>
        <p:spPr>
          <a:xfrm>
            <a:off x="6853312" y="3323406"/>
            <a:ext cx="9525" cy="10477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Shape 27"/>
          <p:cNvSpPr/>
          <p:nvPr/>
        </p:nvSpPr>
        <p:spPr>
          <a:xfrm>
            <a:off x="5853150" y="3453817"/>
            <a:ext cx="2009775" cy="280987"/>
          </a:xfrm>
          <a:prstGeom prst="roundRect">
            <a:avLst>
              <a:gd name="adj" fmla="val 19525"/>
            </a:avLst>
          </a:prstGeom>
          <a:solidFill>
            <a:srgbClr val="1E3A6E"/>
          </a:solidFill>
          <a:ln/>
        </p:spPr>
      </p:sp>
      <p:sp>
        <p:nvSpPr>
          <p:cNvPr id="30" name="Text 28"/>
          <p:cNvSpPr/>
          <p:nvPr/>
        </p:nvSpPr>
        <p:spPr>
          <a:xfrm>
            <a:off x="6382792" y="3503042"/>
            <a:ext cx="1292788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to Solution</a:t>
            </a:r>
            <a:endParaRPr lang="en-US" sz="1010" dirty="0"/>
          </a:p>
        </p:txBody>
      </p:sp>
      <p:sp>
        <p:nvSpPr>
          <p:cNvPr id="31" name="Shape 29"/>
          <p:cNvSpPr/>
          <p:nvPr/>
        </p:nvSpPr>
        <p:spPr>
          <a:xfrm>
            <a:off x="6853312" y="3760440"/>
            <a:ext cx="9525" cy="104775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162" y="3889921"/>
            <a:ext cx="1647825" cy="257175"/>
          </a:xfrm>
          <a:prstGeom prst="rect">
            <a:avLst/>
          </a:prstGeom>
          <a:effectLst>
            <a:outerShdw blurRad="57150" dist="19050" dir="5400000" algn="bl" rotWithShape="0">
              <a:srgbClr val="2563EB">
                <a:alpha val="30000"/>
              </a:srgbClr>
            </a:outerShdw>
          </a:effectLst>
        </p:spPr>
      </p:pic>
      <p:pic>
        <p:nvPicPr>
          <p:cNvPr id="3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622" y="1486533"/>
            <a:ext cx="4295775" cy="1423987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6248921" y="3934718"/>
            <a:ext cx="164094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Optimal Solution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0"/>
            <a:ext cx="9144000" cy="923925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4" name="Text 2"/>
          <p:cNvSpPr/>
          <p:nvPr/>
        </p:nvSpPr>
        <p:spPr>
          <a:xfrm>
            <a:off x="548580" y="258812"/>
            <a:ext cx="327079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90" b="1" kern="0" spc="-5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Characteristics</a:t>
            </a:r>
            <a:endParaRPr lang="en-US" sz="2590" dirty="0"/>
          </a:p>
        </p:txBody>
      </p:sp>
      <p:sp>
        <p:nvSpPr>
          <p:cNvPr id="5" name="Shape 3"/>
          <p:cNvSpPr/>
          <p:nvPr/>
        </p:nvSpPr>
        <p:spPr>
          <a:xfrm>
            <a:off x="0" y="902308"/>
            <a:ext cx="9144000" cy="238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48134" y="1028477"/>
            <a:ext cx="3910012" cy="1890712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76200" dist="9525" dir="5400000" algn="bl" rotWithShape="0">
              <a:srgbClr val="1E3A6E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8111" y="1197434"/>
            <a:ext cx="409575" cy="409575"/>
          </a:xfrm>
          <a:prstGeom prst="roundRect">
            <a:avLst>
              <a:gd name="adj" fmla="val 13395"/>
            </a:avLst>
          </a:prstGeom>
          <a:solidFill>
            <a:srgbClr val="2563EB">
              <a:alpha val="10000"/>
            </a:srgbClr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28" y="1301651"/>
            <a:ext cx="201141" cy="20114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98302" y="1297781"/>
            <a:ext cx="272577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Greedy Choice Property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180" y="1683916"/>
            <a:ext cx="4394024" cy="902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43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 each step, pick the </a:t>
            </a:r>
            <a:r>
              <a:rPr lang="en-US" sz="115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locally best option</a:t>
            </a:r>
            <a:r>
              <a:rPr lang="en-US" sz="11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without</a:t>
            </a:r>
            <a:endParaRPr lang="en-US" sz="1150" dirty="0"/>
          </a:p>
          <a:p>
            <a:pPr marL="0" indent="0" algn="l">
              <a:lnSpc>
                <a:spcPts val="1843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reconsidering previous decisions. The global</a:t>
            </a:r>
            <a:endParaRPr lang="en-US" sz="1150" dirty="0"/>
          </a:p>
          <a:p>
            <a:pPr marL="0" indent="0" algn="l">
              <a:lnSpc>
                <a:spcPts val="1843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optimum can be reached through local optimal</a:t>
            </a:r>
            <a:endParaRPr lang="en-US" sz="1150" dirty="0"/>
          </a:p>
          <a:p>
            <a:pPr marL="0" indent="0" algn="l">
              <a:lnSpc>
                <a:spcPts val="1843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choices.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85854" y="1028477"/>
            <a:ext cx="3910012" cy="1890712"/>
          </a:xfrm>
          <a:prstGeom prst="roundRect">
            <a:avLst>
              <a:gd name="adj" fmla="val 4836"/>
            </a:avLst>
          </a:prstGeom>
          <a:solidFill>
            <a:srgbClr val="1E3A6E"/>
          </a:solidFill>
          <a:ln/>
          <a:effectLst>
            <a:outerShdw blurRad="76200" dist="9525" dir="5400000" algn="bl" rotWithShape="0">
              <a:srgbClr val="1E3A6E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15830" y="1173621"/>
            <a:ext cx="409575" cy="409575"/>
          </a:xfrm>
          <a:prstGeom prst="roundRect">
            <a:avLst>
              <a:gd name="adj" fmla="val 13395"/>
            </a:avLst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047" y="1277838"/>
            <a:ext cx="201141" cy="20114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36022" y="1273969"/>
            <a:ext cx="249418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Optimal Substructure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914900" y="1660103"/>
            <a:ext cx="3998364" cy="902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43"/>
              </a:lnSpc>
              <a:buNone/>
            </a:pPr>
            <a:r>
              <a:rPr lang="en-US" sz="115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optimal solution to a problem contains</a:t>
            </a:r>
            <a:endParaRPr lang="en-US" sz="1150" dirty="0"/>
          </a:p>
          <a:p>
            <a:pPr marL="0" indent="0" algn="l">
              <a:lnSpc>
                <a:spcPts val="1843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optimal solutions to its subproblems</a:t>
            </a:r>
            <a:r>
              <a:rPr lang="en-US" sz="115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the</a:t>
            </a:r>
            <a:endParaRPr lang="en-US" sz="1150" dirty="0"/>
          </a:p>
          <a:p>
            <a:pPr marL="0" indent="0" algn="l">
              <a:lnSpc>
                <a:spcPts val="1843"/>
              </a:lnSpc>
              <a:buNone/>
            </a:pPr>
            <a:r>
              <a:rPr lang="en-US" sz="115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overall answer is built from smaller optimal</a:t>
            </a:r>
            <a:endParaRPr lang="en-US" sz="1150" dirty="0"/>
          </a:p>
          <a:p>
            <a:pPr marL="0" indent="0" algn="l">
              <a:lnSpc>
                <a:spcPts val="1843"/>
              </a:lnSpc>
              <a:buNone/>
            </a:pPr>
            <a:r>
              <a:rPr lang="en-US" sz="115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answers.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134" y="3047330"/>
            <a:ext cx="3910012" cy="1890712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76200" dist="9525" dir="5400000" algn="bl" rotWithShape="0">
              <a:srgbClr val="1E3A6E">
                <a:alpha val="7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8111" y="3216287"/>
            <a:ext cx="409575" cy="409575"/>
          </a:xfrm>
          <a:prstGeom prst="roundRect">
            <a:avLst>
              <a:gd name="adj" fmla="val 13395"/>
            </a:avLst>
          </a:prstGeom>
          <a:solidFill>
            <a:srgbClr val="1E3A6E">
              <a:alpha val="8000"/>
            </a:srgbClr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28" y="3320504"/>
            <a:ext cx="201141" cy="20114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98302" y="3316635"/>
            <a:ext cx="286236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Local vs Global Optimum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777180" y="3702769"/>
            <a:ext cx="4432042" cy="668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43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Greedy always picks the </a:t>
            </a:r>
            <a:r>
              <a:rPr lang="en-US" sz="115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 best</a:t>
            </a:r>
            <a:r>
              <a:rPr lang="en-US" sz="11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This may or</a:t>
            </a:r>
            <a:endParaRPr lang="en-US" sz="1150" dirty="0"/>
          </a:p>
          <a:p>
            <a:pPr marL="0" indent="0" algn="l">
              <a:lnSpc>
                <a:spcPts val="1843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may not lead to the </a:t>
            </a:r>
            <a:r>
              <a:rPr lang="en-US" sz="1150" b="1" dirty="0">
                <a:solidFill>
                  <a:srgbClr val="1E3A6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global best</a:t>
            </a:r>
            <a:r>
              <a:rPr lang="en-US" sz="11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Greedy succeeds</a:t>
            </a:r>
            <a:endParaRPr lang="en-US" sz="1150" dirty="0"/>
          </a:p>
          <a:p>
            <a:pPr marL="0" indent="0" algn="l">
              <a:lnSpc>
                <a:spcPts val="1843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when local and global optima align.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685854" y="3047330"/>
            <a:ext cx="3910012" cy="1890712"/>
          </a:xfrm>
          <a:prstGeom prst="roundRect">
            <a:avLst>
              <a:gd name="adj" fmla="val 4836"/>
            </a:avLst>
          </a:prstGeom>
          <a:solidFill>
            <a:srgbClr val="2563EB"/>
          </a:solidFill>
          <a:ln/>
          <a:effectLst>
            <a:outerShdw blurRad="76200" dist="9525" dir="5400000" algn="bl" rotWithShape="0">
              <a:srgbClr val="2563EB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915830" y="3192475"/>
            <a:ext cx="409575" cy="409575"/>
          </a:xfrm>
          <a:prstGeom prst="roundRect">
            <a:avLst>
              <a:gd name="adj" fmla="val 13395"/>
            </a:avLst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0047" y="3296692"/>
            <a:ext cx="201141" cy="20114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36022" y="3292822"/>
            <a:ext cx="302295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One-Way Decision Making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914900" y="3678957"/>
            <a:ext cx="4424883" cy="668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43"/>
              </a:lnSpc>
              <a:buNone/>
            </a:pPr>
            <a:r>
              <a:rPr lang="en-US" sz="1150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Decisions are </a:t>
            </a:r>
            <a:r>
              <a:rPr lang="en-US" sz="11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final and irreversible</a:t>
            </a:r>
            <a:r>
              <a:rPr lang="en-US" sz="1150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there is no</a:t>
            </a:r>
            <a:endParaRPr lang="en-US" sz="1150" dirty="0"/>
          </a:p>
          <a:p>
            <a:pPr marL="0" indent="0" algn="l">
              <a:lnSpc>
                <a:spcPts val="1843"/>
              </a:lnSpc>
              <a:buNone/>
            </a:pPr>
            <a:r>
              <a:rPr lang="en-US" sz="1150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backtracking. Once a choice is made, the</a:t>
            </a:r>
            <a:endParaRPr lang="en-US" sz="1150" dirty="0"/>
          </a:p>
          <a:p>
            <a:pPr marL="0" indent="0" algn="l">
              <a:lnSpc>
                <a:spcPts val="1843"/>
              </a:lnSpc>
              <a:buNone/>
            </a:pPr>
            <a:r>
              <a:rPr lang="en-US" sz="1150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algorithm moves forward without revisiting it.</a:t>
            </a:r>
            <a:endParaRPr lang="en-US" sz="115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8134" y="1028477"/>
            <a:ext cx="3910012" cy="1890712"/>
          </a:xfrm>
          <a:prstGeom prst="rect">
            <a:avLst/>
          </a:prstGeom>
        </p:spPr>
      </p:pic>
      <p:pic>
        <p:nvPicPr>
          <p:cNvPr id="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8134" y="3047330"/>
            <a:ext cx="3910012" cy="18907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0"/>
            <a:ext cx="9144000" cy="923925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4" name="Text 2"/>
          <p:cNvSpPr/>
          <p:nvPr/>
        </p:nvSpPr>
        <p:spPr>
          <a:xfrm>
            <a:off x="548580" y="286271"/>
            <a:ext cx="5748747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300" b="1" kern="0" spc="-46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Working of Greedy Algorithm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0" y="902308"/>
            <a:ext cx="9144000" cy="238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1463427" y="1754237"/>
            <a:ext cx="1462088" cy="23336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  <a:effectLst>
            <a:outerShdw blurRad="57150" dist="19050" dir="5400000" algn="bl" rotWithShape="0">
              <a:srgbClr val="2563EB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966764" y="1787128"/>
            <a:ext cx="64909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2189708" y="2008212"/>
            <a:ext cx="9525" cy="90488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9" name="Shape 7"/>
          <p:cNvSpPr/>
          <p:nvPr/>
        </p:nvSpPr>
        <p:spPr>
          <a:xfrm>
            <a:off x="1006227" y="2121210"/>
            <a:ext cx="2376487" cy="280987"/>
          </a:xfrm>
          <a:prstGeom prst="roundRect">
            <a:avLst>
              <a:gd name="adj" fmla="val 16271"/>
            </a:avLst>
          </a:prstGeom>
          <a:solidFill>
            <a:srgbClr val="1E3A6E"/>
          </a:solidFill>
          <a:ln/>
        </p:spPr>
      </p:sp>
      <p:sp>
        <p:nvSpPr>
          <p:cNvPr id="10" name="Text 8"/>
          <p:cNvSpPr/>
          <p:nvPr/>
        </p:nvSpPr>
        <p:spPr>
          <a:xfrm>
            <a:off x="994213" y="2167012"/>
            <a:ext cx="2400441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problem candidates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2189708" y="2424708"/>
            <a:ext cx="9525" cy="90488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6227" y="2537706"/>
            <a:ext cx="2376487" cy="280987"/>
          </a:xfrm>
          <a:prstGeom prst="roundRect">
            <a:avLst>
              <a:gd name="adj" fmla="val 16271"/>
            </a:avLst>
          </a:prstGeom>
          <a:solidFill>
            <a:srgbClr val="1E3A6E"/>
          </a:solidFill>
          <a:ln/>
        </p:spPr>
      </p:sp>
      <p:sp>
        <p:nvSpPr>
          <p:cNvPr id="13" name="Text 11"/>
          <p:cNvSpPr/>
          <p:nvPr/>
        </p:nvSpPr>
        <p:spPr>
          <a:xfrm>
            <a:off x="1157206" y="2583507"/>
            <a:ext cx="207453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Apply selection criterion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2189708" y="2841203"/>
            <a:ext cx="9525" cy="90488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5" name="Shape 13"/>
          <p:cNvSpPr/>
          <p:nvPr/>
        </p:nvSpPr>
        <p:spPr>
          <a:xfrm>
            <a:off x="1294308" y="2836588"/>
            <a:ext cx="1800176" cy="593382"/>
          </a:xfrm>
          <a:custGeom>
            <a:avLst/>
            <a:gdLst/>
            <a:ahLst/>
            <a:cxnLst/>
            <a:rect l="l" t="t" r="r" b="b"/>
            <a:pathLst>
              <a:path w="1800176" h="593382">
                <a:moveTo>
                  <a:pt x="177385" y="0"/>
                </a:moveTo>
                <a:lnTo>
                  <a:pt x="1800176" y="286142"/>
                </a:lnTo>
                <a:lnTo>
                  <a:pt x="1622791" y="593382"/>
                </a:lnTo>
                <a:lnTo>
                  <a:pt x="0" y="307240"/>
                </a:lnTo>
                <a:close/>
              </a:path>
            </a:pathLst>
          </a:custGeom>
          <a:solidFill>
            <a:srgbClr val="256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1549673" y="3334271"/>
            <a:ext cx="9525" cy="7620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7" name="Text 15"/>
          <p:cNvSpPr/>
          <p:nvPr/>
        </p:nvSpPr>
        <p:spPr>
          <a:xfrm>
            <a:off x="1453381" y="3415680"/>
            <a:ext cx="31979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YES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1549673" y="3589586"/>
            <a:ext cx="9525" cy="7620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1992" y="3665265"/>
            <a:ext cx="1004887" cy="233362"/>
          </a:xfrm>
          <a:prstGeom prst="roundRect">
            <a:avLst>
              <a:gd name="adj" fmla="val 19592"/>
            </a:avLst>
          </a:prstGeom>
          <a:solidFill>
            <a:srgbClr val="1E3A6E"/>
          </a:solidFill>
          <a:ln/>
        </p:spPr>
      </p:sp>
      <p:sp>
        <p:nvSpPr>
          <p:cNvPr id="20" name="Text 18"/>
          <p:cNvSpPr/>
          <p:nvPr/>
        </p:nvSpPr>
        <p:spPr>
          <a:xfrm>
            <a:off x="935370" y="3694137"/>
            <a:ext cx="123813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to solution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2829818" y="3334271"/>
            <a:ext cx="9525" cy="76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2" name="Text 20"/>
          <p:cNvSpPr/>
          <p:nvPr/>
        </p:nvSpPr>
        <p:spPr>
          <a:xfrm>
            <a:off x="2741265" y="3415680"/>
            <a:ext cx="29977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40" b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2829818" y="3589586"/>
            <a:ext cx="9525" cy="76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4" name="Shape 22"/>
          <p:cNvSpPr/>
          <p:nvPr/>
        </p:nvSpPr>
        <p:spPr>
          <a:xfrm>
            <a:off x="2332137" y="3665265"/>
            <a:ext cx="1004887" cy="233362"/>
          </a:xfrm>
          <a:prstGeom prst="roundRect">
            <a:avLst>
              <a:gd name="adj" fmla="val 19592"/>
            </a:avLst>
          </a:prstGeom>
          <a:solidFill>
            <a:srgbClr val="94A3B8"/>
          </a:solidFill>
          <a:ln/>
        </p:spPr>
      </p:sp>
      <p:sp>
        <p:nvSpPr>
          <p:cNvPr id="25" name="Text 23"/>
          <p:cNvSpPr/>
          <p:nvPr/>
        </p:nvSpPr>
        <p:spPr>
          <a:xfrm>
            <a:off x="2514920" y="3694137"/>
            <a:ext cx="63932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Discard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2189708" y="3919240"/>
            <a:ext cx="9525" cy="90488"/>
          </a:xfrm>
          <a:prstGeom prst="rect">
            <a:avLst/>
          </a:prstGeom>
          <a:solidFill>
            <a:srgbClr val="1E3A6E"/>
          </a:solidFill>
          <a:ln/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427" y="4030340"/>
            <a:ext cx="1462088" cy="233362"/>
          </a:xfrm>
          <a:prstGeom prst="rect">
            <a:avLst/>
          </a:prstGeom>
          <a:effectLst>
            <a:outerShdw blurRad="57150" dist="19050" dir="5400000" algn="bl" rotWithShape="0">
              <a:srgbClr val="1E3A6E">
                <a:alpha val="30000"/>
              </a:srgbClr>
            </a:outerShdw>
          </a:effectLst>
        </p:spPr>
      </p:pic>
      <p:sp>
        <p:nvSpPr>
          <p:cNvPr id="28" name="Text 25"/>
          <p:cNvSpPr/>
          <p:nvPr/>
        </p:nvSpPr>
        <p:spPr>
          <a:xfrm>
            <a:off x="4114651" y="1411486"/>
            <a:ext cx="3064646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03"/>
              </a:spcAft>
              <a:buNone/>
            </a:pPr>
            <a:r>
              <a:rPr lang="en-US" sz="1370" b="1" dirty="0">
                <a:solidFill>
                  <a:srgbClr val="1E3A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Step-by-Step Explanation</a:t>
            </a:r>
            <a:endParaRPr lang="en-US" sz="1370" dirty="0"/>
          </a:p>
        </p:txBody>
      </p:sp>
      <p:sp>
        <p:nvSpPr>
          <p:cNvPr id="29" name="Text 26"/>
          <p:cNvSpPr/>
          <p:nvPr/>
        </p:nvSpPr>
        <p:spPr>
          <a:xfrm>
            <a:off x="4114651" y="1752972"/>
            <a:ext cx="16646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80" dirty="0"/>
          </a:p>
        </p:txBody>
      </p:sp>
      <p:sp>
        <p:nvSpPr>
          <p:cNvPr id="30" name="Text 27"/>
          <p:cNvSpPr/>
          <p:nvPr/>
        </p:nvSpPr>
        <p:spPr>
          <a:xfrm>
            <a:off x="4480396" y="1786310"/>
            <a:ext cx="4796068" cy="4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1E3A6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candidates</a:t>
            </a:r>
            <a:r>
              <a:rPr lang="en-US" sz="11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List all possible choices for the</a:t>
            </a:r>
            <a:endParaRPr lang="en-US" sz="1150" dirty="0"/>
          </a:p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current step.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4114651" y="2294706"/>
            <a:ext cx="21618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80" dirty="0"/>
          </a:p>
        </p:txBody>
      </p:sp>
      <p:sp>
        <p:nvSpPr>
          <p:cNvPr id="32" name="Text 29"/>
          <p:cNvSpPr/>
          <p:nvPr/>
        </p:nvSpPr>
        <p:spPr>
          <a:xfrm>
            <a:off x="4480396" y="2328044"/>
            <a:ext cx="5286531" cy="4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1E3A6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Apply selection criterion</a:t>
            </a:r>
            <a:r>
              <a:rPr lang="en-US" sz="11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Pick the element that gives the</a:t>
            </a:r>
            <a:endParaRPr lang="en-US" sz="1150" dirty="0"/>
          </a:p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value (e.g., minimum cost, maximum profit).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4114651" y="2836441"/>
            <a:ext cx="21773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80" dirty="0"/>
          </a:p>
        </p:txBody>
      </p:sp>
      <p:sp>
        <p:nvSpPr>
          <p:cNvPr id="34" name="Text 31"/>
          <p:cNvSpPr/>
          <p:nvPr/>
        </p:nvSpPr>
        <p:spPr>
          <a:xfrm>
            <a:off x="4480396" y="2869778"/>
            <a:ext cx="5097214" cy="4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1E3A6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 feasibility</a:t>
            </a:r>
            <a:r>
              <a:rPr lang="en-US" sz="11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Does adding this element violate any</a:t>
            </a:r>
            <a:endParaRPr lang="en-US" sz="1150" dirty="0"/>
          </a:p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constraints?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4114651" y="3378175"/>
            <a:ext cx="243371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80" dirty="0"/>
          </a:p>
        </p:txBody>
      </p:sp>
      <p:sp>
        <p:nvSpPr>
          <p:cNvPr id="36" name="Text 33"/>
          <p:cNvSpPr/>
          <p:nvPr/>
        </p:nvSpPr>
        <p:spPr>
          <a:xfrm>
            <a:off x="4480396" y="3411513"/>
            <a:ext cx="4518236" cy="4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1E3A6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 or discard</a:t>
            </a:r>
            <a:r>
              <a:rPr lang="en-US" sz="11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If feasible, add it to the solution.</a:t>
            </a:r>
            <a:endParaRPr lang="en-US" sz="1150" dirty="0"/>
          </a:p>
          <a:p>
            <a:pPr marL="0" indent="0" algn="l">
              <a:lnSpc>
                <a:spcPts val="1728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Otherwise, discard it permanently.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4114651" y="3919910"/>
            <a:ext cx="21909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580" dirty="0"/>
          </a:p>
        </p:txBody>
      </p:sp>
      <p:sp>
        <p:nvSpPr>
          <p:cNvPr id="38" name="Text 35"/>
          <p:cNvSpPr/>
          <p:nvPr/>
        </p:nvSpPr>
        <p:spPr>
          <a:xfrm>
            <a:off x="4480396" y="3953247"/>
            <a:ext cx="446541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3A6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Repeat</a:t>
            </a:r>
            <a:r>
              <a:rPr lang="en-US" sz="11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Continue until the solution is complete.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4114279" y="4291905"/>
            <a:ext cx="4481512" cy="338137"/>
          </a:xfrm>
          <a:prstGeom prst="roundRect">
            <a:avLst>
              <a:gd name="adj" fmla="val 16225"/>
            </a:avLst>
          </a:prstGeom>
          <a:solidFill>
            <a:srgbClr val="2563EB">
              <a:alpha val="8000"/>
            </a:srgbClr>
          </a:solidFill>
          <a:ln w="4763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256559" y="4367659"/>
            <a:ext cx="469362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Key: Greedy never backtracks — each decision is final.</a:t>
            </a:r>
            <a:endParaRPr lang="en-US" sz="1080" dirty="0"/>
          </a:p>
        </p:txBody>
      </p:sp>
      <p:sp>
        <p:nvSpPr>
          <p:cNvPr id="41" name="Text 38"/>
          <p:cNvSpPr/>
          <p:nvPr/>
        </p:nvSpPr>
        <p:spPr>
          <a:xfrm>
            <a:off x="1882601" y="3051572"/>
            <a:ext cx="867817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Feasible?</a:t>
            </a:r>
            <a:endParaRPr lang="en-US" sz="1010" dirty="0"/>
          </a:p>
        </p:txBody>
      </p:sp>
      <p:sp>
        <p:nvSpPr>
          <p:cNvPr id="42" name="Text 39"/>
          <p:cNvSpPr/>
          <p:nvPr/>
        </p:nvSpPr>
        <p:spPr>
          <a:xfrm>
            <a:off x="1551459" y="4063231"/>
            <a:ext cx="172898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SOLUTION READY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0"/>
            <a:ext cx="9144000" cy="923925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4" name="Text 2"/>
          <p:cNvSpPr/>
          <p:nvPr/>
        </p:nvSpPr>
        <p:spPr>
          <a:xfrm>
            <a:off x="548580" y="258812"/>
            <a:ext cx="2748602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90" b="1" kern="0" spc="-5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Pseudocode</a:t>
            </a:r>
            <a:endParaRPr lang="en-US" sz="2590" dirty="0"/>
          </a:p>
        </p:txBody>
      </p:sp>
      <p:sp>
        <p:nvSpPr>
          <p:cNvPr id="5" name="Shape 3"/>
          <p:cNvSpPr/>
          <p:nvPr/>
        </p:nvSpPr>
        <p:spPr>
          <a:xfrm>
            <a:off x="0" y="902308"/>
            <a:ext cx="9144000" cy="238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48097" y="1027770"/>
            <a:ext cx="4024312" cy="3962400"/>
          </a:xfrm>
          <a:prstGeom prst="roundRect">
            <a:avLst>
              <a:gd name="adj" fmla="val 2308"/>
            </a:avLst>
          </a:prstGeom>
          <a:solidFill>
            <a:srgbClr val="0F172A"/>
          </a:solidFill>
          <a:ln/>
          <a:effectLst>
            <a:outerShdw blurRad="114300" dist="1905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55" y="1217265"/>
            <a:ext cx="109537" cy="109537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941784" y="1217265"/>
            <a:ext cx="109537" cy="109537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106314" y="1217265"/>
            <a:ext cx="109537" cy="109537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1362149" y="1187723"/>
            <a:ext cx="189159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4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greedy_algorithm.pseudo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777180" y="1512689"/>
            <a:ext cx="402883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r>
              <a:rPr lang="en-US" sz="10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GreedyAlgorithm</a:t>
            </a:r>
            <a:r>
              <a:rPr lang="en-US" sz="10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(candidates):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1005780" y="1745828"/>
            <a:ext cx="220415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</a:t>
            </a:r>
            <a:r>
              <a:rPr lang="en-US" sz="10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</a:t>
            </a:r>
            <a:r>
              <a:rPr lang="en-US" sz="108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 set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1005780" y="1994371"/>
            <a:ext cx="424349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</a:t>
            </a:r>
            <a:r>
              <a:rPr lang="en-US" sz="10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(candidates) </a:t>
            </a:r>
            <a:r>
              <a:rPr lang="en-US" sz="108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by greedy criterion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1005780" y="2242914"/>
            <a:ext cx="306300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</a:t>
            </a:r>
            <a:r>
              <a:rPr lang="en-US" sz="10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r>
              <a:rPr lang="en-US" sz="108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8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candidates: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1234380" y="2476054"/>
            <a:ext cx="327747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isFeasible</a:t>
            </a:r>
            <a:r>
              <a:rPr lang="en-US" sz="10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(solution, item):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1462980" y="2709193"/>
            <a:ext cx="284814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</a:t>
            </a:r>
            <a:r>
              <a:rPr lang="en-US" sz="108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solution</a:t>
            </a:r>
            <a:r>
              <a:rPr lang="en-US" sz="10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item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1234380" y="2942332"/>
            <a:ext cx="70123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IF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1005780" y="3190875"/>
            <a:ext cx="80861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FOR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777180" y="3439418"/>
            <a:ext cx="166735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8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4846216" y="1190402"/>
            <a:ext cx="1470013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203"/>
              </a:spcAft>
              <a:buNone/>
            </a:pPr>
            <a:r>
              <a:rPr lang="en-US" sz="1370" b="1" dirty="0">
                <a:solidFill>
                  <a:srgbClr val="1E3A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Explanation</a:t>
            </a:r>
            <a:endParaRPr lang="en-US" sz="1370" dirty="0"/>
          </a:p>
        </p:txBody>
      </p:sp>
      <p:sp>
        <p:nvSpPr>
          <p:cNvPr id="21" name="Shape 19"/>
          <p:cNvSpPr/>
          <p:nvPr/>
        </p:nvSpPr>
        <p:spPr>
          <a:xfrm>
            <a:off x="4845248" y="1571551"/>
            <a:ext cx="47625" cy="204787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001592" y="1574750"/>
            <a:ext cx="164404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E3A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Initialize Solution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5001592" y="1761381"/>
            <a:ext cx="4097037" cy="366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1"/>
              </a:lnSpc>
              <a:buNone/>
            </a:pPr>
            <a:r>
              <a:rPr lang="en-US" sz="104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Start with an empty set that will grow into the final</a:t>
            </a:r>
            <a:endParaRPr lang="en-US" sz="1040" dirty="0"/>
          </a:p>
          <a:p>
            <a:pPr marL="0" indent="0" algn="l">
              <a:lnSpc>
                <a:spcPts val="1461"/>
              </a:lnSpc>
              <a:buNone/>
            </a:pPr>
            <a:r>
              <a:rPr lang="en-US" sz="104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answer.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4845248" y="2251249"/>
            <a:ext cx="47625" cy="204787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5001592" y="2254448"/>
            <a:ext cx="1524283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E3A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Sort Candidates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5001592" y="2441079"/>
            <a:ext cx="4669341" cy="366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1"/>
              </a:lnSpc>
              <a:buNone/>
            </a:pPr>
            <a:r>
              <a:rPr lang="en-US" sz="104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Order candidates by the greedy criterion (e.g., finish time,</a:t>
            </a:r>
            <a:endParaRPr lang="en-US" sz="1040" dirty="0"/>
          </a:p>
          <a:p>
            <a:pPr marL="0" indent="0" algn="l">
              <a:lnSpc>
                <a:spcPts val="1461"/>
              </a:lnSpc>
              <a:buNone/>
            </a:pPr>
            <a:r>
              <a:rPr lang="en-US" sz="104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weight, profit).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4845248" y="2930947"/>
            <a:ext cx="47625" cy="204787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5001592" y="2934146"/>
            <a:ext cx="1603511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E3A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 Feasibility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5001592" y="3120777"/>
            <a:ext cx="4485732" cy="366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1"/>
              </a:lnSpc>
              <a:buNone/>
            </a:pPr>
            <a:r>
              <a:rPr lang="en-US" sz="104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Before adding, verify the item does not violate problem</a:t>
            </a:r>
            <a:endParaRPr lang="en-US" sz="1040" dirty="0"/>
          </a:p>
          <a:p>
            <a:pPr marL="0" indent="0" algn="l">
              <a:lnSpc>
                <a:spcPts val="1461"/>
              </a:lnSpc>
              <a:buNone/>
            </a:pPr>
            <a:r>
              <a:rPr lang="en-US" sz="104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constraints.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4845248" y="3610645"/>
            <a:ext cx="47625" cy="204787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5001592" y="3613845"/>
            <a:ext cx="148500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E3A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to Solution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5001592" y="3800475"/>
            <a:ext cx="4381254" cy="366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1"/>
              </a:lnSpc>
              <a:buNone/>
            </a:pPr>
            <a:r>
              <a:rPr lang="en-US" sz="104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 feasible, include the item. Otherwise discard it — no</a:t>
            </a:r>
            <a:endParaRPr lang="en-US" sz="1040" dirty="0"/>
          </a:p>
          <a:p>
            <a:pPr marL="0" indent="0" algn="l">
              <a:lnSpc>
                <a:spcPts val="1461"/>
              </a:lnSpc>
              <a:buNone/>
            </a:pPr>
            <a:r>
              <a:rPr lang="en-US" sz="104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second chances.</a:t>
            </a:r>
            <a:endParaRPr lang="en-US" sz="1040" dirty="0"/>
          </a:p>
        </p:txBody>
      </p:sp>
      <p:sp>
        <p:nvSpPr>
          <p:cNvPr id="33" name="Shape 31"/>
          <p:cNvSpPr/>
          <p:nvPr/>
        </p:nvSpPr>
        <p:spPr>
          <a:xfrm>
            <a:off x="4845248" y="4290343"/>
            <a:ext cx="47625" cy="204787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34" name="Text 32"/>
          <p:cNvSpPr/>
          <p:nvPr/>
        </p:nvSpPr>
        <p:spPr>
          <a:xfrm>
            <a:off x="5001592" y="4293543"/>
            <a:ext cx="1505032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E3A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Return Solution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5001592" y="4480173"/>
            <a:ext cx="4329790" cy="366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1"/>
              </a:lnSpc>
              <a:buNone/>
            </a:pPr>
            <a:r>
              <a:rPr lang="en-US" sz="104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After processing all candidates, return the assembled</a:t>
            </a:r>
            <a:endParaRPr lang="en-US" sz="1040" dirty="0"/>
          </a:p>
          <a:p>
            <a:pPr marL="0" indent="0" algn="l">
              <a:lnSpc>
                <a:spcPts val="1461"/>
              </a:lnSpc>
              <a:buNone/>
            </a:pPr>
            <a:r>
              <a:rPr lang="en-US" sz="104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optimal solution.</a:t>
            </a:r>
            <a:endParaRPr lang="en-US" sz="10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0"/>
            <a:ext cx="9144000" cy="923925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4" name="Text 2"/>
          <p:cNvSpPr/>
          <p:nvPr/>
        </p:nvSpPr>
        <p:spPr>
          <a:xfrm>
            <a:off x="548580" y="175468"/>
            <a:ext cx="130188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kern="0" spc="101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STUDY</a:t>
            </a:r>
            <a:endParaRPr lang="en-US" sz="1010" dirty="0"/>
          </a:p>
        </p:txBody>
      </p:sp>
      <p:sp>
        <p:nvSpPr>
          <p:cNvPr id="5" name="Text 3"/>
          <p:cNvSpPr/>
          <p:nvPr/>
        </p:nvSpPr>
        <p:spPr>
          <a:xfrm>
            <a:off x="548580" y="391269"/>
            <a:ext cx="4836215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160" b="1" kern="0" spc="-43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Activity Selection Problem</a:t>
            </a:r>
            <a:endParaRPr lang="en-US" sz="2160" dirty="0"/>
          </a:p>
        </p:txBody>
      </p:sp>
      <p:sp>
        <p:nvSpPr>
          <p:cNvPr id="6" name="Shape 4"/>
          <p:cNvSpPr/>
          <p:nvPr/>
        </p:nvSpPr>
        <p:spPr>
          <a:xfrm>
            <a:off x="0" y="902308"/>
            <a:ext cx="9144000" cy="238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580" y="1038225"/>
            <a:ext cx="4465707" cy="391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1E3A6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 maximum non-overlapping activities. Sort by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b="1" dirty="0">
                <a:solidFill>
                  <a:srgbClr val="1E3A6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finish time — always pick the earliest finisher.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547613" y="1544017"/>
            <a:ext cx="3476625" cy="1847850"/>
          </a:xfrm>
          <a:prstGeom prst="roundRect">
            <a:avLst>
              <a:gd name="adj" fmla="val 3959"/>
            </a:avLst>
          </a:prstGeom>
          <a:solidFill>
            <a:srgbClr val="FFFFFF"/>
          </a:solidFill>
          <a:ln/>
          <a:effectLst>
            <a:outerShdw blurRad="57150" dist="9525" dir="5400000" algn="bl" rotWithShape="0">
              <a:srgbClr val="1E3A6E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7613" y="1542120"/>
            <a:ext cx="3476625" cy="323850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10" name="Text 8"/>
          <p:cNvSpPr/>
          <p:nvPr/>
        </p:nvSpPr>
        <p:spPr>
          <a:xfrm>
            <a:off x="685726" y="1618878"/>
            <a:ext cx="747087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Activity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1485826" y="1618878"/>
            <a:ext cx="49701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2285926" y="1618878"/>
            <a:ext cx="60062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Finish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3086026" y="1618878"/>
            <a:ext cx="839666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Selected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547613" y="1866044"/>
            <a:ext cx="3476625" cy="304800"/>
          </a:xfrm>
          <a:prstGeom prst="rect">
            <a:avLst/>
          </a:prstGeom>
          <a:solidFill>
            <a:srgbClr val="2563EB">
              <a:alpha val="8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85726" y="1921371"/>
            <a:ext cx="26958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1E3A6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A1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1485826" y="1921371"/>
            <a:ext cx="15572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040" dirty="0"/>
          </a:p>
        </p:txBody>
      </p:sp>
      <p:sp>
        <p:nvSpPr>
          <p:cNvPr id="17" name="Text 15"/>
          <p:cNvSpPr/>
          <p:nvPr/>
        </p:nvSpPr>
        <p:spPr>
          <a:xfrm>
            <a:off x="2285926" y="1921371"/>
            <a:ext cx="15572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3086026" y="1930896"/>
            <a:ext cx="39728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YES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547613" y="2172556"/>
            <a:ext cx="347662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726" y="2227883"/>
            <a:ext cx="26958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A2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1485826" y="2227883"/>
            <a:ext cx="15572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2285926" y="2227883"/>
            <a:ext cx="15572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3086026" y="2227883"/>
            <a:ext cx="29057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547613" y="2479067"/>
            <a:ext cx="3476625" cy="304800"/>
          </a:xfrm>
          <a:prstGeom prst="rect">
            <a:avLst/>
          </a:prstGeom>
          <a:solidFill>
            <a:srgbClr val="2563EB">
              <a:alpha val="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85726" y="2534394"/>
            <a:ext cx="26958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1E3A6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A3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1485826" y="2534394"/>
            <a:ext cx="15572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2285926" y="2534394"/>
            <a:ext cx="15572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1040" dirty="0"/>
          </a:p>
        </p:txBody>
      </p:sp>
      <p:sp>
        <p:nvSpPr>
          <p:cNvPr id="28" name="Text 26"/>
          <p:cNvSpPr/>
          <p:nvPr/>
        </p:nvSpPr>
        <p:spPr>
          <a:xfrm>
            <a:off x="3086026" y="2543919"/>
            <a:ext cx="39728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YES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547613" y="2785579"/>
            <a:ext cx="3476625" cy="304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85726" y="2840906"/>
            <a:ext cx="26958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A4</a:t>
            </a:r>
            <a:endParaRPr lang="en-US" sz="1040" dirty="0"/>
          </a:p>
        </p:txBody>
      </p:sp>
      <p:sp>
        <p:nvSpPr>
          <p:cNvPr id="31" name="Text 29"/>
          <p:cNvSpPr/>
          <p:nvPr/>
        </p:nvSpPr>
        <p:spPr>
          <a:xfrm>
            <a:off x="1485826" y="2840906"/>
            <a:ext cx="15572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040" dirty="0"/>
          </a:p>
        </p:txBody>
      </p:sp>
      <p:sp>
        <p:nvSpPr>
          <p:cNvPr id="32" name="Text 30"/>
          <p:cNvSpPr/>
          <p:nvPr/>
        </p:nvSpPr>
        <p:spPr>
          <a:xfrm>
            <a:off x="2285926" y="2840906"/>
            <a:ext cx="15572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</a:t>
            </a:r>
            <a:endParaRPr lang="en-US" sz="1040" dirty="0"/>
          </a:p>
        </p:txBody>
      </p:sp>
      <p:sp>
        <p:nvSpPr>
          <p:cNvPr id="33" name="Text 31"/>
          <p:cNvSpPr/>
          <p:nvPr/>
        </p:nvSpPr>
        <p:spPr>
          <a:xfrm>
            <a:off x="3086026" y="2840906"/>
            <a:ext cx="29057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dirty="0">
                <a:solidFill>
                  <a:srgbClr val="94A3B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</a:t>
            </a:r>
            <a:endParaRPr lang="en-US" sz="1040" dirty="0"/>
          </a:p>
        </p:txBody>
      </p:sp>
      <p:sp>
        <p:nvSpPr>
          <p:cNvPr id="34" name="Shape 32"/>
          <p:cNvSpPr/>
          <p:nvPr/>
        </p:nvSpPr>
        <p:spPr>
          <a:xfrm>
            <a:off x="547613" y="3092090"/>
            <a:ext cx="3476625" cy="300038"/>
          </a:xfrm>
          <a:prstGeom prst="rect">
            <a:avLst/>
          </a:prstGeom>
          <a:solidFill>
            <a:srgbClr val="2563EB">
              <a:alpha val="8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85726" y="3147417"/>
            <a:ext cx="26958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1E3A6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A5</a:t>
            </a:r>
            <a:endParaRPr lang="en-US" sz="1040" dirty="0"/>
          </a:p>
        </p:txBody>
      </p:sp>
      <p:sp>
        <p:nvSpPr>
          <p:cNvPr id="36" name="Text 34"/>
          <p:cNvSpPr/>
          <p:nvPr/>
        </p:nvSpPr>
        <p:spPr>
          <a:xfrm>
            <a:off x="1485826" y="3147417"/>
            <a:ext cx="15572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1040" dirty="0"/>
          </a:p>
        </p:txBody>
      </p:sp>
      <p:sp>
        <p:nvSpPr>
          <p:cNvPr id="37" name="Text 35"/>
          <p:cNvSpPr/>
          <p:nvPr/>
        </p:nvSpPr>
        <p:spPr>
          <a:xfrm>
            <a:off x="2285926" y="3147417"/>
            <a:ext cx="25420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</a:t>
            </a:r>
            <a:endParaRPr lang="en-US" sz="1040" dirty="0"/>
          </a:p>
        </p:txBody>
      </p:sp>
      <p:sp>
        <p:nvSpPr>
          <p:cNvPr id="38" name="Text 36"/>
          <p:cNvSpPr/>
          <p:nvPr/>
        </p:nvSpPr>
        <p:spPr>
          <a:xfrm>
            <a:off x="3086026" y="3156942"/>
            <a:ext cx="397282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YES</a:t>
            </a:r>
            <a:endParaRPr lang="en-US" sz="1040" dirty="0"/>
          </a:p>
        </p:txBody>
      </p:sp>
      <p:sp>
        <p:nvSpPr>
          <p:cNvPr id="39" name="Shape 37"/>
          <p:cNvSpPr/>
          <p:nvPr/>
        </p:nvSpPr>
        <p:spPr>
          <a:xfrm>
            <a:off x="547613" y="3494782"/>
            <a:ext cx="3476625" cy="361950"/>
          </a:xfrm>
          <a:prstGeom prst="roundRect">
            <a:avLst>
              <a:gd name="adj" fmla="val 20211"/>
            </a:avLst>
          </a:prstGeom>
          <a:solidFill>
            <a:srgbClr val="1E3A6E"/>
          </a:solidFill>
          <a:ln/>
        </p:spPr>
      </p:sp>
      <p:sp>
        <p:nvSpPr>
          <p:cNvPr id="40" name="Text 38"/>
          <p:cNvSpPr/>
          <p:nvPr/>
        </p:nvSpPr>
        <p:spPr>
          <a:xfrm>
            <a:off x="731416" y="3591967"/>
            <a:ext cx="695816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Result: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1359843" y="3582442"/>
            <a:ext cx="276069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activities selected — A1, A3, A5</a:t>
            </a:r>
            <a:endParaRPr lang="en-US" sz="1080" dirty="0"/>
          </a:p>
        </p:txBody>
      </p:sp>
      <p:sp>
        <p:nvSpPr>
          <p:cNvPr id="42" name="Text 40"/>
          <p:cNvSpPr/>
          <p:nvPr/>
        </p:nvSpPr>
        <p:spPr>
          <a:xfrm>
            <a:off x="4297561" y="1047750"/>
            <a:ext cx="230041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Timeline Illustration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298603" y="1378855"/>
            <a:ext cx="4295775" cy="3609975"/>
          </a:xfrm>
          <a:prstGeom prst="roundRect">
            <a:avLst>
              <a:gd name="adj" fmla="val 2026"/>
            </a:avLst>
          </a:prstGeom>
          <a:solidFill>
            <a:srgbClr val="FFFFFF"/>
          </a:solidFill>
          <a:ln/>
          <a:effectLst>
            <a:outerShdw blurRad="57150" dist="9525" dir="5400000" algn="bl" rotWithShape="0">
              <a:srgbClr val="1E3A6E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480396" y="1521321"/>
            <a:ext cx="24269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E3A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A1</a:t>
            </a:r>
            <a:endParaRPr lang="en-US" sz="1010" dirty="0"/>
          </a:p>
        </p:txBody>
      </p:sp>
      <p:sp>
        <p:nvSpPr>
          <p:cNvPr id="45" name="Shape 43"/>
          <p:cNvSpPr/>
          <p:nvPr/>
        </p:nvSpPr>
        <p:spPr>
          <a:xfrm>
            <a:off x="4801493" y="1512503"/>
            <a:ext cx="3609975" cy="180975"/>
          </a:xfrm>
          <a:prstGeom prst="roundRect">
            <a:avLst>
              <a:gd name="adj" fmla="val 15158"/>
            </a:avLst>
          </a:prstGeom>
          <a:solidFill>
            <a:srgbClr val="E2E8F0"/>
          </a:solidFill>
          <a:ln/>
        </p:spPr>
      </p:sp>
      <p:sp>
        <p:nvSpPr>
          <p:cNvPr id="46" name="Shape 44"/>
          <p:cNvSpPr/>
          <p:nvPr/>
        </p:nvSpPr>
        <p:spPr>
          <a:xfrm>
            <a:off x="5100451" y="1512503"/>
            <a:ext cx="904875" cy="180975"/>
          </a:xfrm>
          <a:prstGeom prst="roundRect">
            <a:avLst>
              <a:gd name="adj" fmla="val 15158"/>
            </a:avLst>
          </a:prstGeom>
          <a:solidFill>
            <a:srgbClr val="2563EB"/>
          </a:solidFill>
          <a:ln/>
        </p:spPr>
      </p:sp>
      <p:sp>
        <p:nvSpPr>
          <p:cNvPr id="47" name="Text 45"/>
          <p:cNvSpPr/>
          <p:nvPr/>
        </p:nvSpPr>
        <p:spPr>
          <a:xfrm>
            <a:off x="5465936" y="1534939"/>
            <a:ext cx="283131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1–4</a:t>
            </a:r>
            <a:endParaRPr lang="en-US" sz="860" dirty="0"/>
          </a:p>
        </p:txBody>
      </p:sp>
      <p:sp>
        <p:nvSpPr>
          <p:cNvPr id="48" name="Text 46"/>
          <p:cNvSpPr/>
          <p:nvPr/>
        </p:nvSpPr>
        <p:spPr>
          <a:xfrm>
            <a:off x="4480396" y="1790402"/>
            <a:ext cx="282840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A2</a:t>
            </a:r>
            <a:endParaRPr lang="en-US" sz="1010" dirty="0"/>
          </a:p>
        </p:txBody>
      </p:sp>
      <p:sp>
        <p:nvSpPr>
          <p:cNvPr id="49" name="Shape 47"/>
          <p:cNvSpPr/>
          <p:nvPr/>
        </p:nvSpPr>
        <p:spPr>
          <a:xfrm>
            <a:off x="4801493" y="1781584"/>
            <a:ext cx="3609975" cy="180975"/>
          </a:xfrm>
          <a:prstGeom prst="roundRect">
            <a:avLst>
              <a:gd name="adj" fmla="val 15158"/>
            </a:avLst>
          </a:prstGeom>
          <a:solidFill>
            <a:srgbClr val="E2E8F0"/>
          </a:solidFill>
          <a:ln/>
        </p:spPr>
      </p:sp>
      <p:sp>
        <p:nvSpPr>
          <p:cNvPr id="50" name="Shape 48"/>
          <p:cNvSpPr/>
          <p:nvPr/>
        </p:nvSpPr>
        <p:spPr>
          <a:xfrm>
            <a:off x="5704359" y="1781584"/>
            <a:ext cx="600075" cy="180975"/>
          </a:xfrm>
          <a:prstGeom prst="roundRect">
            <a:avLst>
              <a:gd name="adj" fmla="val 15158"/>
            </a:avLst>
          </a:prstGeom>
          <a:solidFill>
            <a:srgbClr val="CBD5E1"/>
          </a:solidFill>
          <a:ln/>
        </p:spPr>
      </p:sp>
      <p:sp>
        <p:nvSpPr>
          <p:cNvPr id="51" name="Text 49"/>
          <p:cNvSpPr/>
          <p:nvPr/>
        </p:nvSpPr>
        <p:spPr>
          <a:xfrm>
            <a:off x="5914951" y="1804020"/>
            <a:ext cx="289612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3–5</a:t>
            </a:r>
            <a:endParaRPr lang="en-US" sz="860" dirty="0"/>
          </a:p>
        </p:txBody>
      </p:sp>
      <p:sp>
        <p:nvSpPr>
          <p:cNvPr id="52" name="Text 50"/>
          <p:cNvSpPr/>
          <p:nvPr/>
        </p:nvSpPr>
        <p:spPr>
          <a:xfrm>
            <a:off x="4480396" y="2059484"/>
            <a:ext cx="28477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E3A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A3</a:t>
            </a:r>
            <a:endParaRPr lang="en-US" sz="1010" dirty="0"/>
          </a:p>
        </p:txBody>
      </p:sp>
      <p:sp>
        <p:nvSpPr>
          <p:cNvPr id="53" name="Shape 51"/>
          <p:cNvSpPr/>
          <p:nvPr/>
        </p:nvSpPr>
        <p:spPr>
          <a:xfrm>
            <a:off x="4801493" y="2050666"/>
            <a:ext cx="3609975" cy="180975"/>
          </a:xfrm>
          <a:prstGeom prst="roundRect">
            <a:avLst>
              <a:gd name="adj" fmla="val 15158"/>
            </a:avLst>
          </a:prstGeom>
          <a:solidFill>
            <a:srgbClr val="E2E8F0"/>
          </a:solidFill>
          <a:ln/>
        </p:spPr>
      </p:sp>
      <p:sp>
        <p:nvSpPr>
          <p:cNvPr id="54" name="Shape 52"/>
          <p:cNvSpPr/>
          <p:nvPr/>
        </p:nvSpPr>
        <p:spPr>
          <a:xfrm>
            <a:off x="6306369" y="2050666"/>
            <a:ext cx="600075" cy="180975"/>
          </a:xfrm>
          <a:prstGeom prst="roundRect">
            <a:avLst>
              <a:gd name="adj" fmla="val 15158"/>
            </a:avLst>
          </a:prstGeom>
          <a:solidFill>
            <a:srgbClr val="2563EB"/>
          </a:solidFill>
          <a:ln/>
        </p:spPr>
      </p:sp>
      <p:sp>
        <p:nvSpPr>
          <p:cNvPr id="55" name="Text 53"/>
          <p:cNvSpPr/>
          <p:nvPr/>
        </p:nvSpPr>
        <p:spPr>
          <a:xfrm>
            <a:off x="6512868" y="2073101"/>
            <a:ext cx="30035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5–7</a:t>
            </a:r>
            <a:endParaRPr lang="en-US" sz="860" dirty="0"/>
          </a:p>
        </p:txBody>
      </p:sp>
      <p:sp>
        <p:nvSpPr>
          <p:cNvPr id="56" name="Text 54"/>
          <p:cNvSpPr/>
          <p:nvPr/>
        </p:nvSpPr>
        <p:spPr>
          <a:xfrm>
            <a:off x="4480396" y="2328565"/>
            <a:ext cx="29677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94A3B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A4</a:t>
            </a:r>
            <a:endParaRPr lang="en-US" sz="1010" dirty="0"/>
          </a:p>
        </p:txBody>
      </p:sp>
      <p:sp>
        <p:nvSpPr>
          <p:cNvPr id="57" name="Shape 55"/>
          <p:cNvSpPr/>
          <p:nvPr/>
        </p:nvSpPr>
        <p:spPr>
          <a:xfrm>
            <a:off x="4801493" y="2319747"/>
            <a:ext cx="3609975" cy="180975"/>
          </a:xfrm>
          <a:prstGeom prst="roundRect">
            <a:avLst>
              <a:gd name="adj" fmla="val 15158"/>
            </a:avLst>
          </a:prstGeom>
          <a:solidFill>
            <a:srgbClr val="E2E8F0"/>
          </a:solidFill>
          <a:ln/>
        </p:spPr>
      </p:sp>
      <p:sp>
        <p:nvSpPr>
          <p:cNvPr id="58" name="Shape 56"/>
          <p:cNvSpPr/>
          <p:nvPr/>
        </p:nvSpPr>
        <p:spPr>
          <a:xfrm>
            <a:off x="6605550" y="2319747"/>
            <a:ext cx="904875" cy="180975"/>
          </a:xfrm>
          <a:prstGeom prst="roundRect">
            <a:avLst>
              <a:gd name="adj" fmla="val 15158"/>
            </a:avLst>
          </a:prstGeom>
          <a:solidFill>
            <a:srgbClr val="CBD5E1"/>
          </a:solidFill>
          <a:ln/>
        </p:spPr>
      </p:sp>
      <p:sp>
        <p:nvSpPr>
          <p:cNvPr id="59" name="Text 57"/>
          <p:cNvSpPr/>
          <p:nvPr/>
        </p:nvSpPr>
        <p:spPr>
          <a:xfrm>
            <a:off x="6963445" y="2342183"/>
            <a:ext cx="30286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6–9</a:t>
            </a:r>
            <a:endParaRPr lang="en-US" sz="860" dirty="0"/>
          </a:p>
        </p:txBody>
      </p:sp>
      <p:sp>
        <p:nvSpPr>
          <p:cNvPr id="60" name="Text 58"/>
          <p:cNvSpPr/>
          <p:nvPr/>
        </p:nvSpPr>
        <p:spPr>
          <a:xfrm>
            <a:off x="4480396" y="2597646"/>
            <a:ext cx="283614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E3A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A5</a:t>
            </a:r>
            <a:endParaRPr lang="en-US" sz="1010" dirty="0"/>
          </a:p>
        </p:txBody>
      </p:sp>
      <p:sp>
        <p:nvSpPr>
          <p:cNvPr id="61" name="Shape 59"/>
          <p:cNvSpPr/>
          <p:nvPr/>
        </p:nvSpPr>
        <p:spPr>
          <a:xfrm>
            <a:off x="4801493" y="2588828"/>
            <a:ext cx="3609975" cy="180975"/>
          </a:xfrm>
          <a:prstGeom prst="roundRect">
            <a:avLst>
              <a:gd name="adj" fmla="val 15158"/>
            </a:avLst>
          </a:prstGeom>
          <a:solidFill>
            <a:srgbClr val="E2E8F0"/>
          </a:solidFill>
          <a:ln/>
        </p:spPr>
      </p:sp>
      <p:sp>
        <p:nvSpPr>
          <p:cNvPr id="62" name="Shape 60"/>
          <p:cNvSpPr/>
          <p:nvPr/>
        </p:nvSpPr>
        <p:spPr>
          <a:xfrm>
            <a:off x="7207560" y="2588828"/>
            <a:ext cx="904875" cy="180975"/>
          </a:xfrm>
          <a:prstGeom prst="roundRect">
            <a:avLst>
              <a:gd name="adj" fmla="val 15158"/>
            </a:avLst>
          </a:prstGeom>
          <a:solidFill>
            <a:srgbClr val="2563EB"/>
          </a:solidFill>
          <a:ln/>
        </p:spPr>
      </p:sp>
      <p:sp>
        <p:nvSpPr>
          <p:cNvPr id="63" name="Text 61"/>
          <p:cNvSpPr/>
          <p:nvPr/>
        </p:nvSpPr>
        <p:spPr>
          <a:xfrm>
            <a:off x="7554516" y="2611264"/>
            <a:ext cx="331306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8–11</a:t>
            </a:r>
            <a:endParaRPr lang="en-US" sz="860" dirty="0"/>
          </a:p>
        </p:txBody>
      </p:sp>
      <p:sp>
        <p:nvSpPr>
          <p:cNvPr id="64" name="Text 62"/>
          <p:cNvSpPr/>
          <p:nvPr/>
        </p:nvSpPr>
        <p:spPr>
          <a:xfrm>
            <a:off x="4800377" y="2851324"/>
            <a:ext cx="15949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4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940" dirty="0"/>
          </a:p>
        </p:txBody>
      </p:sp>
      <p:sp>
        <p:nvSpPr>
          <p:cNvPr id="65" name="Text 63"/>
          <p:cNvSpPr/>
          <p:nvPr/>
        </p:nvSpPr>
        <p:spPr>
          <a:xfrm>
            <a:off x="5681886" y="2851324"/>
            <a:ext cx="14431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4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940" dirty="0"/>
          </a:p>
        </p:txBody>
      </p:sp>
      <p:sp>
        <p:nvSpPr>
          <p:cNvPr id="66" name="Text 64"/>
          <p:cNvSpPr/>
          <p:nvPr/>
        </p:nvSpPr>
        <p:spPr>
          <a:xfrm>
            <a:off x="6551712" y="2851324"/>
            <a:ext cx="15127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4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940" dirty="0"/>
          </a:p>
        </p:txBody>
      </p:sp>
      <p:sp>
        <p:nvSpPr>
          <p:cNvPr id="67" name="Text 65"/>
          <p:cNvSpPr/>
          <p:nvPr/>
        </p:nvSpPr>
        <p:spPr>
          <a:xfrm>
            <a:off x="7426896" y="2851324"/>
            <a:ext cx="151276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4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940" dirty="0"/>
          </a:p>
        </p:txBody>
      </p:sp>
      <p:sp>
        <p:nvSpPr>
          <p:cNvPr id="68" name="Text 66"/>
          <p:cNvSpPr/>
          <p:nvPr/>
        </p:nvSpPr>
        <p:spPr>
          <a:xfrm>
            <a:off x="8302079" y="2851324"/>
            <a:ext cx="20071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40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940" dirty="0"/>
          </a:p>
        </p:txBody>
      </p:sp>
      <p:sp>
        <p:nvSpPr>
          <p:cNvPr id="69" name="Shape 67"/>
          <p:cNvSpPr/>
          <p:nvPr/>
        </p:nvSpPr>
        <p:spPr>
          <a:xfrm>
            <a:off x="4479578" y="4612742"/>
            <a:ext cx="3933825" cy="247650"/>
          </a:xfrm>
          <a:prstGeom prst="rect">
            <a:avLst/>
          </a:prstGeom>
          <a:ln/>
        </p:spPr>
      </p:sp>
      <p:sp>
        <p:nvSpPr>
          <p:cNvPr id="70" name="Shape 68"/>
          <p:cNvSpPr/>
          <p:nvPr/>
        </p:nvSpPr>
        <p:spPr>
          <a:xfrm>
            <a:off x="5415893" y="4726558"/>
            <a:ext cx="180975" cy="76200"/>
          </a:xfrm>
          <a:prstGeom prst="roundRect">
            <a:avLst>
              <a:gd name="adj" fmla="val 24000"/>
            </a:avLst>
          </a:prstGeom>
          <a:solidFill>
            <a:srgbClr val="2563EB"/>
          </a:solidFill>
          <a:ln/>
        </p:spPr>
      </p:sp>
      <p:sp>
        <p:nvSpPr>
          <p:cNvPr id="71" name="Text 69"/>
          <p:cNvSpPr/>
          <p:nvPr/>
        </p:nvSpPr>
        <p:spPr>
          <a:xfrm>
            <a:off x="5670947" y="4673426"/>
            <a:ext cx="73470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b="1" dirty="0">
                <a:solidFill>
                  <a:srgbClr val="1E3A6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Selected</a:t>
            </a:r>
            <a:endParaRPr lang="en-US" sz="1010" dirty="0"/>
          </a:p>
        </p:txBody>
      </p:sp>
      <p:sp>
        <p:nvSpPr>
          <p:cNvPr id="72" name="Shape 70"/>
          <p:cNvSpPr/>
          <p:nvPr/>
        </p:nvSpPr>
        <p:spPr>
          <a:xfrm>
            <a:off x="6467363" y="4726558"/>
            <a:ext cx="180975" cy="76200"/>
          </a:xfrm>
          <a:prstGeom prst="roundRect">
            <a:avLst>
              <a:gd name="adj" fmla="val 24000"/>
            </a:avLst>
          </a:prstGeom>
          <a:solidFill>
            <a:srgbClr val="CBD5E1"/>
          </a:solidFill>
          <a:ln/>
        </p:spPr>
      </p:sp>
      <p:sp>
        <p:nvSpPr>
          <p:cNvPr id="73" name="Text 71"/>
          <p:cNvSpPr/>
          <p:nvPr/>
        </p:nvSpPr>
        <p:spPr>
          <a:xfrm>
            <a:off x="6722418" y="4673426"/>
            <a:ext cx="1039431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64748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 Selected</a:t>
            </a:r>
            <a:endParaRPr lang="en-US" sz="1010" dirty="0"/>
          </a:p>
        </p:txBody>
      </p:sp>
      <p:pic>
        <p:nvPicPr>
          <p:cNvPr id="7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613" y="1866044"/>
            <a:ext cx="3476625" cy="304800"/>
          </a:xfrm>
          <a:prstGeom prst="rect">
            <a:avLst/>
          </a:prstGeom>
        </p:spPr>
      </p:pic>
      <p:pic>
        <p:nvPicPr>
          <p:cNvPr id="7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7613" y="2172556"/>
            <a:ext cx="3476625" cy="304800"/>
          </a:xfrm>
          <a:prstGeom prst="rect">
            <a:avLst/>
          </a:prstGeom>
        </p:spPr>
      </p:pic>
      <p:pic>
        <p:nvPicPr>
          <p:cNvPr id="7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7613" y="2479067"/>
            <a:ext cx="3476625" cy="304800"/>
          </a:xfrm>
          <a:prstGeom prst="rect">
            <a:avLst/>
          </a:prstGeom>
        </p:spPr>
      </p:pic>
      <p:pic>
        <p:nvPicPr>
          <p:cNvPr id="7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7613" y="2785579"/>
            <a:ext cx="3476625" cy="304800"/>
          </a:xfrm>
          <a:prstGeom prst="rect">
            <a:avLst/>
          </a:prstGeom>
        </p:spPr>
      </p:pic>
      <p:pic>
        <p:nvPicPr>
          <p:cNvPr id="7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79578" y="4612742"/>
            <a:ext cx="3933825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0"/>
            <a:ext cx="9144000" cy="923925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4" name="Text 2"/>
          <p:cNvSpPr/>
          <p:nvPr/>
        </p:nvSpPr>
        <p:spPr>
          <a:xfrm>
            <a:off x="548580" y="258812"/>
            <a:ext cx="2640352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90" b="1" kern="0" spc="-5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Advantages</a:t>
            </a:r>
            <a:endParaRPr lang="en-US" sz="2590" dirty="0"/>
          </a:p>
        </p:txBody>
      </p:sp>
      <p:sp>
        <p:nvSpPr>
          <p:cNvPr id="5" name="Shape 3"/>
          <p:cNvSpPr/>
          <p:nvPr/>
        </p:nvSpPr>
        <p:spPr>
          <a:xfrm>
            <a:off x="0" y="902308"/>
            <a:ext cx="9144000" cy="238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47688" y="1028477"/>
            <a:ext cx="8048625" cy="638175"/>
          </a:xfrm>
          <a:prstGeom prst="roundRect">
            <a:avLst>
              <a:gd name="adj" fmla="val 11463"/>
            </a:avLst>
          </a:prstGeom>
          <a:solidFill>
            <a:srgbClr val="FFFFFF"/>
          </a:solidFill>
          <a:ln/>
          <a:effectLst>
            <a:outerShdw blurRad="47625" dist="9525" dir="5400000" algn="bl" rotWithShape="0">
              <a:srgbClr val="1E3A6E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9559" y="1164171"/>
            <a:ext cx="366712" cy="366712"/>
          </a:xfrm>
          <a:prstGeom prst="ellipse">
            <a:avLst/>
          </a:prstGeom>
          <a:solidFill>
            <a:srgbClr val="2563EB">
              <a:alpha val="10000"/>
            </a:srgbClr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498" y="1256109"/>
            <a:ext cx="182835" cy="1828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68623" y="1140321"/>
            <a:ext cx="170963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 Execution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68623" y="1377702"/>
            <a:ext cx="756558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Typically O(n log n) due to sorting — far more efficient than exhaustive search approaches.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547688" y="1758776"/>
            <a:ext cx="8048625" cy="638175"/>
          </a:xfrm>
          <a:prstGeom prst="roundRect">
            <a:avLst>
              <a:gd name="adj" fmla="val 11463"/>
            </a:avLst>
          </a:prstGeom>
          <a:solidFill>
            <a:srgbClr val="FFFFFF"/>
          </a:solidFill>
          <a:ln/>
          <a:effectLst>
            <a:outerShdw blurRad="47625" dist="9525" dir="5400000" algn="bl" rotWithShape="0">
              <a:srgbClr val="1E3A6E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19559" y="1894470"/>
            <a:ext cx="366712" cy="366712"/>
          </a:xfrm>
          <a:prstGeom prst="ellipse">
            <a:avLst/>
          </a:prstGeom>
          <a:solidFill>
            <a:srgbClr val="2563EB">
              <a:alpha val="10000"/>
            </a:srgbClr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498" y="1986409"/>
            <a:ext cx="182835" cy="18283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68623" y="1870621"/>
            <a:ext cx="21664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Easy to Implement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368623" y="2108002"/>
            <a:ext cx="850723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Simple, intuitive logic — straightforward to code and understand compared to dynamic programming.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547688" y="2489076"/>
            <a:ext cx="8048625" cy="638175"/>
          </a:xfrm>
          <a:prstGeom prst="roundRect">
            <a:avLst>
              <a:gd name="adj" fmla="val 11463"/>
            </a:avLst>
          </a:prstGeom>
          <a:solidFill>
            <a:srgbClr val="FFFFFF"/>
          </a:solidFill>
          <a:ln/>
          <a:effectLst>
            <a:outerShdw blurRad="47625" dist="9525" dir="5400000" algn="bl" rotWithShape="0">
              <a:srgbClr val="1E3A6E">
                <a:alpha val="7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9559" y="2624770"/>
            <a:ext cx="366712" cy="366712"/>
          </a:xfrm>
          <a:prstGeom prst="ellipse">
            <a:avLst/>
          </a:prstGeom>
          <a:solidFill>
            <a:srgbClr val="2563EB">
              <a:alpha val="10000"/>
            </a:srgbClr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498" y="2716709"/>
            <a:ext cx="182835" cy="18283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68623" y="2600920"/>
            <a:ext cx="347781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Efficient for Suitable Problems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368623" y="2838301"/>
            <a:ext cx="800110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When greedy-choice property holds, it guarantees the optimal result with minimal computation.</a:t>
            </a:r>
            <a:endParaRPr lang="en-US" sz="1080" dirty="0"/>
          </a:p>
        </p:txBody>
      </p:sp>
      <p:sp>
        <p:nvSpPr>
          <p:cNvPr id="21" name="Shape 16"/>
          <p:cNvSpPr/>
          <p:nvPr/>
        </p:nvSpPr>
        <p:spPr>
          <a:xfrm>
            <a:off x="547688" y="3219376"/>
            <a:ext cx="8048625" cy="638175"/>
          </a:xfrm>
          <a:prstGeom prst="roundRect">
            <a:avLst>
              <a:gd name="adj" fmla="val 11463"/>
            </a:avLst>
          </a:prstGeom>
          <a:solidFill>
            <a:srgbClr val="FFFFFF"/>
          </a:solidFill>
          <a:ln/>
          <a:effectLst>
            <a:outerShdw blurRad="47625" dist="9525" dir="5400000" algn="bl" rotWithShape="0">
              <a:srgbClr val="1E3A6E">
                <a:alpha val="7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19559" y="3355070"/>
            <a:ext cx="366712" cy="366712"/>
          </a:xfrm>
          <a:prstGeom prst="ellipse">
            <a:avLst/>
          </a:prstGeom>
          <a:solidFill>
            <a:srgbClr val="2563EB">
              <a:alpha val="10000"/>
            </a:srgbClr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498" y="3447008"/>
            <a:ext cx="182835" cy="18283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68623" y="3331220"/>
            <a:ext cx="22682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 Memory Usage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368623" y="3568601"/>
            <a:ext cx="9033689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need to store all possible solutions — memory requirements are minimal compared to other techniques.</a:t>
            </a:r>
            <a:endParaRPr lang="en-US" sz="1080" dirty="0"/>
          </a:p>
        </p:txBody>
      </p:sp>
      <p:sp>
        <p:nvSpPr>
          <p:cNvPr id="26" name="Shape 20"/>
          <p:cNvSpPr/>
          <p:nvPr/>
        </p:nvSpPr>
        <p:spPr>
          <a:xfrm>
            <a:off x="547688" y="3949675"/>
            <a:ext cx="8048625" cy="638175"/>
          </a:xfrm>
          <a:prstGeom prst="roundRect">
            <a:avLst>
              <a:gd name="adj" fmla="val 11463"/>
            </a:avLst>
          </a:prstGeom>
          <a:solidFill>
            <a:srgbClr val="1E3A6E"/>
          </a:solidFill>
          <a:ln/>
          <a:effectLst>
            <a:outerShdw blurRad="76200" dist="9525" dir="5400000" algn="bl" rotWithShape="0">
              <a:srgbClr val="1E3A6E">
                <a:alpha val="1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76697" y="4085369"/>
            <a:ext cx="366712" cy="366712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35" y="4177308"/>
            <a:ext cx="182835" cy="18283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325761" y="4061520"/>
            <a:ext cx="414705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Proven Optimal for Classic Problems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1325761" y="4298900"/>
            <a:ext cx="786044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Guarantees optimal results for MST (Kruskal, Prim), Huffman Coding, and Fractional Knapsack.</a:t>
            </a:r>
            <a:endParaRPr lang="en-US" sz="108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7688" y="1028477"/>
            <a:ext cx="8048625" cy="638175"/>
          </a:xfrm>
          <a:prstGeom prst="rect">
            <a:avLst/>
          </a:prstGeom>
        </p:spPr>
      </p:pic>
      <p:pic>
        <p:nvPicPr>
          <p:cNvPr id="3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7688" y="1758776"/>
            <a:ext cx="8048625" cy="638175"/>
          </a:xfrm>
          <a:prstGeom prst="rect">
            <a:avLst/>
          </a:prstGeom>
        </p:spPr>
      </p:pic>
      <p:pic>
        <p:nvPicPr>
          <p:cNvPr id="3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7688" y="2489076"/>
            <a:ext cx="8048625" cy="638175"/>
          </a:xfrm>
          <a:prstGeom prst="rect">
            <a:avLst/>
          </a:prstGeom>
        </p:spPr>
      </p:pic>
      <p:pic>
        <p:nvPicPr>
          <p:cNvPr id="34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7688" y="3219376"/>
            <a:ext cx="8048625" cy="6381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0"/>
            <a:ext cx="9144000" cy="923925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4" name="Text 2"/>
          <p:cNvSpPr/>
          <p:nvPr/>
        </p:nvSpPr>
        <p:spPr>
          <a:xfrm>
            <a:off x="548580" y="258812"/>
            <a:ext cx="3264121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90" b="1" kern="0" spc="-5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Disadvantages</a:t>
            </a:r>
            <a:endParaRPr lang="en-US" sz="2590" dirty="0"/>
          </a:p>
        </p:txBody>
      </p:sp>
      <p:sp>
        <p:nvSpPr>
          <p:cNvPr id="5" name="Shape 3"/>
          <p:cNvSpPr/>
          <p:nvPr/>
        </p:nvSpPr>
        <p:spPr>
          <a:xfrm>
            <a:off x="0" y="902308"/>
            <a:ext cx="9144000" cy="238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48134" y="1028477"/>
            <a:ext cx="3910012" cy="1890712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66675" dist="9525" dir="5400000" algn="bl" rotWithShape="0">
              <a:srgbClr val="1E3A6E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8111" y="1197434"/>
            <a:ext cx="409575" cy="409575"/>
          </a:xfrm>
          <a:prstGeom prst="roundRect">
            <a:avLst>
              <a:gd name="adj" fmla="val 13395"/>
            </a:avLst>
          </a:prstGeom>
          <a:solidFill>
            <a:srgbClr val="DC2626">
              <a:alpha val="8000"/>
            </a:srgbClr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28" y="1301651"/>
            <a:ext cx="201141" cy="20114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98302" y="1297781"/>
            <a:ext cx="228416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 Always Optimal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180" y="1699320"/>
            <a:ext cx="4119577" cy="668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43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May find a </a:t>
            </a:r>
            <a:r>
              <a:rPr lang="en-US" sz="1150" b="1" dirty="0">
                <a:solidFill>
                  <a:srgbClr val="DC262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 optimum</a:t>
            </a:r>
            <a:r>
              <a:rPr lang="en-US" sz="11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miss the global</a:t>
            </a:r>
            <a:endParaRPr lang="en-US" sz="1150" dirty="0"/>
          </a:p>
          <a:p>
            <a:pPr marL="0" indent="0" algn="l">
              <a:lnSpc>
                <a:spcPts val="1843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best. The 0/1 Knapsack problem is a classic</a:t>
            </a:r>
            <a:endParaRPr lang="en-US" sz="1150" dirty="0"/>
          </a:p>
          <a:p>
            <a:pPr marL="0" indent="0" algn="l">
              <a:lnSpc>
                <a:spcPts val="1843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example where greedy fails.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85854" y="1028477"/>
            <a:ext cx="3910012" cy="1890712"/>
          </a:xfrm>
          <a:prstGeom prst="roundRect">
            <a:avLst>
              <a:gd name="adj" fmla="val 4836"/>
            </a:avLst>
          </a:prstGeom>
          <a:solidFill>
            <a:srgbClr val="1E3A6E"/>
          </a:solidFill>
          <a:ln/>
          <a:effectLst>
            <a:outerShdw blurRad="66675" dist="9525" dir="5400000" algn="bl" rotWithShape="0">
              <a:srgbClr val="1E3A6E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15830" y="1173621"/>
            <a:ext cx="409575" cy="409575"/>
          </a:xfrm>
          <a:prstGeom prst="roundRect">
            <a:avLst>
              <a:gd name="adj" fmla="val 13395"/>
            </a:avLst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047" y="1277838"/>
            <a:ext cx="201141" cy="20114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36022" y="1273969"/>
            <a:ext cx="30378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Limited Problem Coverage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914900" y="1675507"/>
            <a:ext cx="4299220" cy="668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43"/>
              </a:lnSpc>
              <a:buNone/>
            </a:pPr>
            <a:r>
              <a:rPr lang="en-US" sz="115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 suitable for every optimization problem.</a:t>
            </a:r>
            <a:endParaRPr lang="en-US" sz="1150" dirty="0"/>
          </a:p>
          <a:p>
            <a:pPr marL="0" indent="0" algn="l">
              <a:lnSpc>
                <a:spcPts val="1843"/>
              </a:lnSpc>
              <a:buNone/>
            </a:pPr>
            <a:r>
              <a:rPr lang="en-US" sz="115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Problems like the </a:t>
            </a:r>
            <a:r>
              <a:rPr lang="en-US" sz="115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Travelling Salesman Problem</a:t>
            </a:r>
            <a:endParaRPr lang="en-US" sz="1150" dirty="0"/>
          </a:p>
          <a:p>
            <a:pPr marL="0" indent="0" algn="l">
              <a:lnSpc>
                <a:spcPts val="1843"/>
              </a:lnSpc>
              <a:buNone/>
            </a:pPr>
            <a:r>
              <a:rPr lang="en-US" sz="115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require dynamic programming or backtracking.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134" y="3047330"/>
            <a:ext cx="3910012" cy="1890712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66675" dist="9525" dir="5400000" algn="bl" rotWithShape="0">
              <a:srgbClr val="1E3A6E">
                <a:alpha val="7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8111" y="3216287"/>
            <a:ext cx="409575" cy="409575"/>
          </a:xfrm>
          <a:prstGeom prst="roundRect">
            <a:avLst>
              <a:gd name="adj" fmla="val 13395"/>
            </a:avLst>
          </a:prstGeom>
          <a:solidFill>
            <a:srgbClr val="DC2626">
              <a:alpha val="8000"/>
            </a:srgbClr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28" y="3320504"/>
            <a:ext cx="201141" cy="20114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98302" y="3316635"/>
            <a:ext cx="193097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Backtracking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777180" y="3718173"/>
            <a:ext cx="4531779" cy="668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43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Once a decision is made, it is </a:t>
            </a:r>
            <a:r>
              <a:rPr lang="en-US" sz="1150" b="1" dirty="0">
                <a:solidFill>
                  <a:srgbClr val="DC262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permanent and</a:t>
            </a:r>
            <a:endParaRPr lang="en-US" sz="1150" dirty="0"/>
          </a:p>
          <a:p>
            <a:pPr marL="0" indent="0" algn="l">
              <a:lnSpc>
                <a:spcPts val="1843"/>
              </a:lnSpc>
              <a:buNone/>
            </a:pPr>
            <a:r>
              <a:rPr lang="en-US" sz="1150" b="1" dirty="0">
                <a:solidFill>
                  <a:srgbClr val="DC262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irreversible</a:t>
            </a:r>
            <a:r>
              <a:rPr lang="en-US" sz="11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Early mistakes compound and cannot</a:t>
            </a:r>
            <a:endParaRPr lang="en-US" sz="1150" dirty="0"/>
          </a:p>
          <a:p>
            <a:pPr marL="0" indent="0" algn="l">
              <a:lnSpc>
                <a:spcPts val="1843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 corrected later in the process.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685854" y="3047330"/>
            <a:ext cx="3910012" cy="1890712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66675" dist="9525" dir="5400000" algn="bl" rotWithShape="0">
              <a:srgbClr val="1E3A6E">
                <a:alpha val="7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915830" y="3216287"/>
            <a:ext cx="409575" cy="409575"/>
          </a:xfrm>
          <a:prstGeom prst="roundRect">
            <a:avLst>
              <a:gd name="adj" fmla="val 13395"/>
            </a:avLst>
          </a:prstGeom>
          <a:solidFill>
            <a:srgbClr val="1E3A6E">
              <a:alpha val="8000"/>
            </a:srgbClr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0047" y="3320504"/>
            <a:ext cx="201141" cy="20114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36022" y="3316635"/>
            <a:ext cx="379560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3A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Requires Greedy-Choice Property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914900" y="3718173"/>
            <a:ext cx="4531779" cy="668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43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Only works correctly when the problem inherently</a:t>
            </a:r>
            <a:endParaRPr lang="en-US" sz="1150" dirty="0"/>
          </a:p>
          <a:p>
            <a:pPr marL="0" indent="0" algn="l">
              <a:lnSpc>
                <a:spcPts val="1843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satisfies the </a:t>
            </a:r>
            <a:r>
              <a:rPr lang="en-US" sz="115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greedy-choice property</a:t>
            </a:r>
            <a:r>
              <a:rPr lang="en-US" sz="11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Always verify</a:t>
            </a:r>
            <a:endParaRPr lang="en-US" sz="1150" dirty="0"/>
          </a:p>
          <a:p>
            <a:pPr marL="0" indent="0" algn="l">
              <a:lnSpc>
                <a:spcPts val="1843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before applying greedy.</a:t>
            </a:r>
            <a:endParaRPr lang="en-US" sz="115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8134" y="1028477"/>
            <a:ext cx="3910012" cy="1890712"/>
          </a:xfrm>
          <a:prstGeom prst="rect">
            <a:avLst/>
          </a:prstGeom>
        </p:spPr>
      </p:pic>
      <p:pic>
        <p:nvPicPr>
          <p:cNvPr id="2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8134" y="3047330"/>
            <a:ext cx="3910012" cy="1890712"/>
          </a:xfrm>
          <a:prstGeom prst="rect">
            <a:avLst/>
          </a:prstGeom>
        </p:spPr>
      </p:pic>
      <p:pic>
        <p:nvPicPr>
          <p:cNvPr id="2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85854" y="3047330"/>
            <a:ext cx="3910012" cy="18907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0"/>
            <a:ext cx="9144000" cy="923925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4" name="Text 2"/>
          <p:cNvSpPr/>
          <p:nvPr/>
        </p:nvSpPr>
        <p:spPr>
          <a:xfrm>
            <a:off x="548580" y="258812"/>
            <a:ext cx="2765241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90" b="1" kern="0" spc="-5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Applications</a:t>
            </a:r>
            <a:endParaRPr lang="en-US" sz="2590" dirty="0"/>
          </a:p>
        </p:txBody>
      </p:sp>
      <p:sp>
        <p:nvSpPr>
          <p:cNvPr id="5" name="Shape 3"/>
          <p:cNvSpPr/>
          <p:nvPr/>
        </p:nvSpPr>
        <p:spPr>
          <a:xfrm>
            <a:off x="0" y="902308"/>
            <a:ext cx="9144000" cy="238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47650" y="1029407"/>
            <a:ext cx="2562225" cy="1914525"/>
          </a:xfrm>
          <a:prstGeom prst="roundRect">
            <a:avLst>
              <a:gd name="adj" fmla="val 3821"/>
            </a:avLst>
          </a:prstGeom>
          <a:solidFill>
            <a:srgbClr val="FFFFFF"/>
          </a:solidFill>
          <a:ln/>
          <a:effectLst>
            <a:outerShdw blurRad="57150" dist="9525" dir="5400000" algn="bl" rotWithShape="0">
              <a:srgbClr val="1E3A6E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0932" y="1175854"/>
            <a:ext cx="366712" cy="366712"/>
          </a:xfrm>
          <a:prstGeom prst="roundRect">
            <a:avLst>
              <a:gd name="adj" fmla="val 12468"/>
            </a:avLst>
          </a:prstGeom>
          <a:solidFill>
            <a:srgbClr val="2563EB">
              <a:alpha val="10000"/>
            </a:srgbClr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871" y="1267792"/>
            <a:ext cx="182835" cy="1828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416" y="1622822"/>
            <a:ext cx="251130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3A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Minimum Spanning Tree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31416" y="1889671"/>
            <a:ext cx="2481508" cy="560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Kruskal's and Prim's algorithms</a:t>
            </a:r>
            <a:endParaRPr lang="en-US" sz="1010" dirty="0"/>
          </a:p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MST by greedily selecting</a:t>
            </a:r>
            <a:endParaRPr lang="en-US" sz="1010" dirty="0"/>
          </a:p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minimum-cost edges.</a:t>
            </a:r>
            <a:endParaRPr lang="en-US" sz="1010" dirty="0"/>
          </a:p>
        </p:txBody>
      </p:sp>
      <p:sp>
        <p:nvSpPr>
          <p:cNvPr id="11" name="Shape 8"/>
          <p:cNvSpPr/>
          <p:nvPr/>
        </p:nvSpPr>
        <p:spPr>
          <a:xfrm>
            <a:off x="3290850" y="1029407"/>
            <a:ext cx="2562225" cy="1914525"/>
          </a:xfrm>
          <a:prstGeom prst="roundRect">
            <a:avLst>
              <a:gd name="adj" fmla="val 3821"/>
            </a:avLst>
          </a:prstGeom>
          <a:solidFill>
            <a:srgbClr val="1E3A6E"/>
          </a:solidFill>
          <a:ln/>
          <a:effectLst>
            <a:outerShdw blurRad="57150" dist="9525" dir="5400000" algn="bl" rotWithShape="0">
              <a:srgbClr val="1E3A6E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132" y="1156804"/>
            <a:ext cx="366712" cy="366712"/>
          </a:xfrm>
          <a:prstGeom prst="roundRect">
            <a:avLst>
              <a:gd name="adj" fmla="val 12468"/>
            </a:avLst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071" y="1248742"/>
            <a:ext cx="182835" cy="18283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4616" y="1603772"/>
            <a:ext cx="142502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Shortest Path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474616" y="1870621"/>
            <a:ext cx="2869332" cy="560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Dijkstra's algorithm finds the</a:t>
            </a:r>
            <a:endParaRPr lang="en-US" sz="1010" dirty="0"/>
          </a:p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shortest path by greedily picking the</a:t>
            </a:r>
            <a:endParaRPr lang="en-US" sz="1010" dirty="0"/>
          </a:p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nearest unvisited node.</a:t>
            </a:r>
            <a:endParaRPr lang="en-US" sz="1010" dirty="0"/>
          </a:p>
        </p:txBody>
      </p:sp>
      <p:sp>
        <p:nvSpPr>
          <p:cNvPr id="16" name="Shape 12"/>
          <p:cNvSpPr/>
          <p:nvPr/>
        </p:nvSpPr>
        <p:spPr>
          <a:xfrm>
            <a:off x="6034050" y="1029407"/>
            <a:ext cx="2562225" cy="1914525"/>
          </a:xfrm>
          <a:prstGeom prst="roundRect">
            <a:avLst>
              <a:gd name="adj" fmla="val 3821"/>
            </a:avLst>
          </a:prstGeom>
          <a:solidFill>
            <a:srgbClr val="FFFFFF"/>
          </a:solidFill>
          <a:ln/>
          <a:effectLst>
            <a:outerShdw blurRad="57150" dist="9525" dir="5400000" algn="bl" rotWithShape="0">
              <a:srgbClr val="1E3A6E">
                <a:alpha val="7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332" y="1175854"/>
            <a:ext cx="366712" cy="366712"/>
          </a:xfrm>
          <a:prstGeom prst="roundRect">
            <a:avLst>
              <a:gd name="adj" fmla="val 12468"/>
            </a:avLst>
          </a:prstGeom>
          <a:solidFill>
            <a:srgbClr val="2563EB">
              <a:alpha val="10000"/>
            </a:srgbClr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271" y="1267792"/>
            <a:ext cx="182835" cy="18283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17816" y="1622822"/>
            <a:ext cx="170518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3A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Huffman Coding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217816" y="1889671"/>
            <a:ext cx="2787491" cy="560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Builds optimal prefix-free codes for</a:t>
            </a:r>
            <a:endParaRPr lang="en-US" sz="1010" dirty="0"/>
          </a:p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compression by greedy tree</a:t>
            </a:r>
            <a:endParaRPr lang="en-US" sz="1010" dirty="0"/>
          </a:p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construction.</a:t>
            </a:r>
            <a:endParaRPr lang="en-US" sz="1010" dirty="0"/>
          </a:p>
        </p:txBody>
      </p:sp>
      <p:sp>
        <p:nvSpPr>
          <p:cNvPr id="21" name="Shape 16"/>
          <p:cNvSpPr/>
          <p:nvPr/>
        </p:nvSpPr>
        <p:spPr>
          <a:xfrm>
            <a:off x="547650" y="3073971"/>
            <a:ext cx="2562225" cy="1914525"/>
          </a:xfrm>
          <a:prstGeom prst="roundRect">
            <a:avLst>
              <a:gd name="adj" fmla="val 3821"/>
            </a:avLst>
          </a:prstGeom>
          <a:solidFill>
            <a:srgbClr val="2563EB"/>
          </a:solidFill>
          <a:ln/>
          <a:effectLst>
            <a:outerShdw blurRad="57150" dist="9525" dir="5400000" algn="bl" rotWithShape="0">
              <a:srgbClr val="2563EB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30932" y="3201330"/>
            <a:ext cx="366712" cy="366712"/>
          </a:xfrm>
          <a:prstGeom prst="roundRect">
            <a:avLst>
              <a:gd name="adj" fmla="val 12468"/>
            </a:avLst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871" y="3293269"/>
            <a:ext cx="182835" cy="18283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31416" y="3648298"/>
            <a:ext cx="199984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Activity Scheduling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731416" y="3915147"/>
            <a:ext cx="2589952" cy="560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Selects the maximum number of</a:t>
            </a:r>
            <a:endParaRPr lang="en-US" sz="1010" dirty="0"/>
          </a:p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non-overlapping tasks by picking</a:t>
            </a:r>
            <a:endParaRPr lang="en-US" sz="1010" dirty="0"/>
          </a:p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earliest finish times.</a:t>
            </a:r>
            <a:endParaRPr lang="en-US" sz="1010" dirty="0"/>
          </a:p>
        </p:txBody>
      </p:sp>
      <p:sp>
        <p:nvSpPr>
          <p:cNvPr id="26" name="Shape 20"/>
          <p:cNvSpPr/>
          <p:nvPr/>
        </p:nvSpPr>
        <p:spPr>
          <a:xfrm>
            <a:off x="3290850" y="3073971"/>
            <a:ext cx="2562225" cy="1914525"/>
          </a:xfrm>
          <a:prstGeom prst="roundRect">
            <a:avLst>
              <a:gd name="adj" fmla="val 3821"/>
            </a:avLst>
          </a:prstGeom>
          <a:solidFill>
            <a:srgbClr val="FFFFFF"/>
          </a:solidFill>
          <a:ln/>
          <a:effectLst>
            <a:outerShdw blurRad="57150" dist="9525" dir="5400000" algn="bl" rotWithShape="0">
              <a:srgbClr val="1E3A6E">
                <a:alpha val="7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474132" y="3220380"/>
            <a:ext cx="366712" cy="366712"/>
          </a:xfrm>
          <a:prstGeom prst="roundRect">
            <a:avLst>
              <a:gd name="adj" fmla="val 12468"/>
            </a:avLst>
          </a:prstGeom>
          <a:solidFill>
            <a:srgbClr val="1E3A6E">
              <a:alpha val="8000"/>
            </a:srgbClr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071" y="3312319"/>
            <a:ext cx="182835" cy="18283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474616" y="3667348"/>
            <a:ext cx="208197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3A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Fractional Knapsack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3474616" y="3934197"/>
            <a:ext cx="2613846" cy="560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Maximizes total value by greedily</a:t>
            </a:r>
            <a:endParaRPr lang="en-US" sz="1010" dirty="0"/>
          </a:p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picking items with the highest</a:t>
            </a:r>
            <a:endParaRPr lang="en-US" sz="1010" dirty="0"/>
          </a:p>
          <a:p>
            <a:pPr marL="0" indent="0" algn="l">
              <a:lnSpc>
                <a:spcPts val="1512"/>
              </a:lnSpc>
              <a:buNone/>
            </a:pPr>
            <a:r>
              <a:rPr lang="en-US" sz="101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value-to-weight ratio.</a:t>
            </a:r>
            <a:endParaRPr lang="en-US" sz="1010" dirty="0"/>
          </a:p>
        </p:txBody>
      </p:sp>
      <p:sp>
        <p:nvSpPr>
          <p:cNvPr id="31" name="Shape 24"/>
          <p:cNvSpPr/>
          <p:nvPr/>
        </p:nvSpPr>
        <p:spPr>
          <a:xfrm>
            <a:off x="6034050" y="3073971"/>
            <a:ext cx="2562225" cy="1914525"/>
          </a:xfrm>
          <a:prstGeom prst="roundRect">
            <a:avLst>
              <a:gd name="adj" fmla="val 3821"/>
            </a:avLst>
          </a:prstGeom>
          <a:solidFill>
            <a:srgbClr val="FFFFFF"/>
          </a:solidFill>
          <a:ln/>
          <a:effectLst>
            <a:outerShdw blurRad="57150" dist="9525" dir="5400000" algn="bl" rotWithShape="0">
              <a:srgbClr val="1E3A6E">
                <a:alpha val="7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217332" y="3220380"/>
            <a:ext cx="366712" cy="366712"/>
          </a:xfrm>
          <a:prstGeom prst="roundRect">
            <a:avLst>
              <a:gd name="adj" fmla="val 12468"/>
            </a:avLst>
          </a:prstGeom>
          <a:solidFill>
            <a:srgbClr val="1E3A6E">
              <a:alpha val="8000"/>
            </a:srgbClr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271" y="3312319"/>
            <a:ext cx="182835" cy="18283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217816" y="3667348"/>
            <a:ext cx="1771643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E3A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Network Routing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6217816" y="3934197"/>
            <a:ext cx="2488957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Protocols like OSPF use greedy-based</a:t>
            </a:r>
            <a:endParaRPr lang="en-US" sz="1010" dirty="0"/>
          </a:p>
        </p:txBody>
      </p:sp>
      <p:sp>
        <p:nvSpPr>
          <p:cNvPr id="36" name="Text 28"/>
          <p:cNvSpPr/>
          <p:nvPr/>
        </p:nvSpPr>
        <p:spPr>
          <a:xfrm>
            <a:off x="6611615" y="4126185"/>
            <a:ext cx="2021711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approaches to determine</a:t>
            </a:r>
            <a:endParaRPr lang="en-US" sz="1010" dirty="0"/>
          </a:p>
        </p:txBody>
      </p:sp>
      <p:sp>
        <p:nvSpPr>
          <p:cNvPr id="37" name="Text 29"/>
          <p:cNvSpPr/>
          <p:nvPr/>
        </p:nvSpPr>
        <p:spPr>
          <a:xfrm>
            <a:off x="6217816" y="4318174"/>
            <a:ext cx="2184618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optimal data packet routes.</a:t>
            </a:r>
            <a:endParaRPr lang="en-US" sz="101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7650" y="1029407"/>
            <a:ext cx="2562225" cy="1914525"/>
          </a:xfrm>
          <a:prstGeom prst="rect">
            <a:avLst/>
          </a:prstGeom>
        </p:spPr>
      </p:pic>
      <p:pic>
        <p:nvPicPr>
          <p:cNvPr id="3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034050" y="1029407"/>
            <a:ext cx="2562225" cy="1914525"/>
          </a:xfrm>
          <a:prstGeom prst="rect">
            <a:avLst/>
          </a:prstGeom>
        </p:spPr>
      </p:pic>
      <p:pic>
        <p:nvPicPr>
          <p:cNvPr id="4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90850" y="3073971"/>
            <a:ext cx="2562225" cy="1914525"/>
          </a:xfrm>
          <a:prstGeom prst="rect">
            <a:avLst/>
          </a:prstGeom>
        </p:spPr>
      </p:pic>
      <p:pic>
        <p:nvPicPr>
          <p:cNvPr id="41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34050" y="3073971"/>
            <a:ext cx="2562225" cy="19145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0"/>
            <a:ext cx="3657600" cy="2571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086100"/>
            <a:ext cx="3200400" cy="20574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8580" y="580504"/>
            <a:ext cx="1217719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080" b="1" kern="0" spc="162" dirty="0">
                <a:solidFill>
                  <a:srgbClr val="93C5F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SUMMARY</a:t>
            </a:r>
            <a:endParaRPr lang="en-US" sz="1080" dirty="0"/>
          </a:p>
        </p:txBody>
      </p:sp>
      <p:sp>
        <p:nvSpPr>
          <p:cNvPr id="6" name="Text 1"/>
          <p:cNvSpPr/>
          <p:nvPr/>
        </p:nvSpPr>
        <p:spPr>
          <a:xfrm>
            <a:off x="548580" y="789980"/>
            <a:ext cx="3458081" cy="5572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108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7" name="Shape 2"/>
          <p:cNvSpPr/>
          <p:nvPr/>
        </p:nvSpPr>
        <p:spPr>
          <a:xfrm>
            <a:off x="547613" y="1399282"/>
            <a:ext cx="733425" cy="190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8" name="Shape 3"/>
          <p:cNvSpPr/>
          <p:nvPr/>
        </p:nvSpPr>
        <p:spPr>
          <a:xfrm>
            <a:off x="549064" y="1573932"/>
            <a:ext cx="2528888" cy="2181225"/>
          </a:xfrm>
          <a:prstGeom prst="roundRect">
            <a:avLst>
              <a:gd name="adj" fmla="val 4192"/>
            </a:avLst>
          </a:prstGeom>
          <a:solidFill>
            <a:srgbClr val="FFFFFF">
              <a:alpha val="60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Shape 4"/>
          <p:cNvSpPr/>
          <p:nvPr/>
        </p:nvSpPr>
        <p:spPr>
          <a:xfrm>
            <a:off x="736178" y="1706687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5"/>
          <p:cNvSpPr/>
          <p:nvPr/>
        </p:nvSpPr>
        <p:spPr>
          <a:xfrm>
            <a:off x="922734" y="1808262"/>
            <a:ext cx="166464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80" dirty="0"/>
          </a:p>
        </p:txBody>
      </p:sp>
      <p:sp>
        <p:nvSpPr>
          <p:cNvPr id="11" name="Text 6"/>
          <p:cNvSpPr/>
          <p:nvPr/>
        </p:nvSpPr>
        <p:spPr>
          <a:xfrm>
            <a:off x="736178" y="2260029"/>
            <a:ext cx="108509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2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It Is</a:t>
            </a:r>
            <a:endParaRPr lang="en-US" sz="1220" dirty="0"/>
          </a:p>
        </p:txBody>
      </p:sp>
      <p:sp>
        <p:nvSpPr>
          <p:cNvPr id="12" name="Text 7"/>
          <p:cNvSpPr/>
          <p:nvPr/>
        </p:nvSpPr>
        <p:spPr>
          <a:xfrm>
            <a:off x="736178" y="2539826"/>
            <a:ext cx="2736800" cy="843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7"/>
              </a:lnSpc>
              <a:buNone/>
            </a:pPr>
            <a:r>
              <a:rPr lang="en-US" sz="108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fast, simple algorithmic</a:t>
            </a:r>
            <a:endParaRPr lang="en-US" sz="1080" dirty="0"/>
          </a:p>
          <a:p>
            <a:pPr marL="0" indent="0" algn="l">
              <a:lnSpc>
                <a:spcPts val="1727"/>
              </a:lnSpc>
              <a:buNone/>
            </a:pPr>
            <a:r>
              <a:rPr lang="en-US" sz="108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strategy that picks the locally</a:t>
            </a:r>
            <a:endParaRPr lang="en-US" sz="1080" dirty="0"/>
          </a:p>
          <a:p>
            <a:pPr marL="0" indent="0" algn="l">
              <a:lnSpc>
                <a:spcPts val="1727"/>
              </a:lnSpc>
              <a:buNone/>
            </a:pPr>
            <a:r>
              <a:rPr lang="en-US" sz="108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option at each step to build</a:t>
            </a:r>
            <a:endParaRPr lang="en-US" sz="1080" dirty="0"/>
          </a:p>
          <a:p>
            <a:pPr marL="0" indent="0" algn="l">
              <a:lnSpc>
                <a:spcPts val="1727"/>
              </a:lnSpc>
              <a:buNone/>
            </a:pPr>
            <a:r>
              <a:rPr lang="en-US" sz="108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toward an optimal solution.</a:t>
            </a:r>
            <a:endParaRPr lang="en-US" sz="1080" dirty="0"/>
          </a:p>
        </p:txBody>
      </p:sp>
      <p:sp>
        <p:nvSpPr>
          <p:cNvPr id="13" name="Shape 8"/>
          <p:cNvSpPr/>
          <p:nvPr/>
        </p:nvSpPr>
        <p:spPr>
          <a:xfrm>
            <a:off x="3307519" y="1573932"/>
            <a:ext cx="2528888" cy="2181225"/>
          </a:xfrm>
          <a:prstGeom prst="roundRect">
            <a:avLst>
              <a:gd name="adj" fmla="val 4192"/>
            </a:avLst>
          </a:prstGeom>
          <a:solidFill>
            <a:srgbClr val="FFFFFF">
              <a:alpha val="60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3494633" y="1706687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0"/>
          <p:cNvSpPr/>
          <p:nvPr/>
        </p:nvSpPr>
        <p:spPr>
          <a:xfrm>
            <a:off x="3662065" y="1808262"/>
            <a:ext cx="21618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80" dirty="0"/>
          </a:p>
        </p:txBody>
      </p:sp>
      <p:sp>
        <p:nvSpPr>
          <p:cNvPr id="16" name="Text 11"/>
          <p:cNvSpPr/>
          <p:nvPr/>
        </p:nvSpPr>
        <p:spPr>
          <a:xfrm>
            <a:off x="3494633" y="2260029"/>
            <a:ext cx="142348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2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to Use</a:t>
            </a:r>
            <a:endParaRPr lang="en-US" sz="1220" dirty="0"/>
          </a:p>
        </p:txBody>
      </p:sp>
      <p:sp>
        <p:nvSpPr>
          <p:cNvPr id="17" name="Text 12"/>
          <p:cNvSpPr/>
          <p:nvPr/>
        </p:nvSpPr>
        <p:spPr>
          <a:xfrm>
            <a:off x="3494633" y="2539826"/>
            <a:ext cx="2855885" cy="1063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7"/>
              </a:lnSpc>
              <a:buNone/>
            </a:pPr>
            <a:r>
              <a:rPr lang="en-US" sz="108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when the problem has</a:t>
            </a:r>
            <a:endParaRPr lang="en-US" sz="1080" dirty="0"/>
          </a:p>
          <a:p>
            <a:pPr marL="0" indent="0" algn="l">
              <a:lnSpc>
                <a:spcPts val="1727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Greedy Choice Property</a:t>
            </a:r>
            <a:r>
              <a:rPr lang="en-US" sz="108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endParaRPr lang="en-US" sz="1080" dirty="0"/>
          </a:p>
          <a:p>
            <a:pPr marL="0" indent="0" algn="l">
              <a:lnSpc>
                <a:spcPts val="1727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Optimal Substructure</a:t>
            </a:r>
            <a:r>
              <a:rPr lang="en-US" sz="108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Examples:</a:t>
            </a:r>
            <a:endParaRPr lang="en-US" sz="1080" dirty="0"/>
          </a:p>
          <a:p>
            <a:pPr marL="0" indent="0" algn="l">
              <a:lnSpc>
                <a:spcPts val="1727"/>
              </a:lnSpc>
              <a:buNone/>
            </a:pPr>
            <a:r>
              <a:rPr lang="en-US" sz="108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MST, Huffman Coding, Activity</a:t>
            </a:r>
            <a:endParaRPr lang="en-US" sz="1080" dirty="0"/>
          </a:p>
          <a:p>
            <a:pPr marL="0" indent="0" algn="l">
              <a:lnSpc>
                <a:spcPts val="1727"/>
              </a:lnSpc>
              <a:buNone/>
            </a:pPr>
            <a:r>
              <a:rPr lang="en-US" sz="108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Selection.</a:t>
            </a:r>
            <a:endParaRPr lang="en-US" sz="1080" dirty="0"/>
          </a:p>
        </p:txBody>
      </p:sp>
      <p:sp>
        <p:nvSpPr>
          <p:cNvPr id="18" name="Shape 13"/>
          <p:cNvSpPr/>
          <p:nvPr/>
        </p:nvSpPr>
        <p:spPr>
          <a:xfrm>
            <a:off x="6065974" y="1573932"/>
            <a:ext cx="2528888" cy="2181225"/>
          </a:xfrm>
          <a:prstGeom prst="roundRect">
            <a:avLst>
              <a:gd name="adj" fmla="val 4192"/>
            </a:avLst>
          </a:prstGeom>
          <a:solidFill>
            <a:srgbClr val="FFFFFF">
              <a:alpha val="6000"/>
            </a:srgbClr>
          </a:solidFill>
          <a:ln w="4763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253088" y="1706687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5"/>
          <p:cNvSpPr/>
          <p:nvPr/>
        </p:nvSpPr>
        <p:spPr>
          <a:xfrm>
            <a:off x="6419924" y="1808262"/>
            <a:ext cx="217736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80" dirty="0"/>
          </a:p>
        </p:txBody>
      </p:sp>
      <p:sp>
        <p:nvSpPr>
          <p:cNvPr id="21" name="Text 16"/>
          <p:cNvSpPr/>
          <p:nvPr/>
        </p:nvSpPr>
        <p:spPr>
          <a:xfrm>
            <a:off x="6253088" y="2260029"/>
            <a:ext cx="193706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Aft>
                <a:spcPts val="405"/>
              </a:spcAft>
              <a:buNone/>
            </a:pPr>
            <a:r>
              <a:rPr lang="en-US" sz="12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NOT to Use</a:t>
            </a:r>
            <a:endParaRPr lang="en-US" sz="1220" dirty="0"/>
          </a:p>
        </p:txBody>
      </p:sp>
      <p:sp>
        <p:nvSpPr>
          <p:cNvPr id="22" name="Text 17"/>
          <p:cNvSpPr/>
          <p:nvPr/>
        </p:nvSpPr>
        <p:spPr>
          <a:xfrm>
            <a:off x="6253088" y="2539826"/>
            <a:ext cx="2667729" cy="8438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7"/>
              </a:lnSpc>
              <a:buNone/>
            </a:pPr>
            <a:r>
              <a:rPr lang="en-US" sz="108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Avoid for problems requiring</a:t>
            </a:r>
            <a:endParaRPr lang="en-US" sz="1080" dirty="0"/>
          </a:p>
          <a:p>
            <a:pPr marL="0" indent="0" algn="l">
              <a:lnSpc>
                <a:spcPts val="1727"/>
              </a:lnSpc>
              <a:buNone/>
            </a:pPr>
            <a:r>
              <a:rPr lang="en-US" sz="108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exploration of all paths, like the</a:t>
            </a:r>
            <a:endParaRPr lang="en-US" sz="1080" dirty="0"/>
          </a:p>
          <a:p>
            <a:pPr marL="0" indent="0" algn="l">
              <a:lnSpc>
                <a:spcPts val="1727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0/1 Knapsack</a:t>
            </a:r>
            <a:r>
              <a:rPr lang="en-US" sz="108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 </a:t>
            </a:r>
            <a:r>
              <a:rPr lang="en-US" sz="108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TSP</a:t>
            </a:r>
            <a:r>
              <a:rPr lang="en-US" sz="108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Use</a:t>
            </a:r>
            <a:endParaRPr lang="en-US" sz="1080" dirty="0"/>
          </a:p>
          <a:p>
            <a:pPr marL="0" indent="0" algn="l">
              <a:lnSpc>
                <a:spcPts val="1727"/>
              </a:lnSpc>
              <a:buNone/>
            </a:pPr>
            <a:r>
              <a:rPr lang="en-US" sz="108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Dynamic Programming instead.</a:t>
            </a:r>
            <a:endParaRPr lang="en-US" sz="1080" dirty="0"/>
          </a:p>
        </p:txBody>
      </p:sp>
      <p:sp>
        <p:nvSpPr>
          <p:cNvPr id="23" name="Shape 18"/>
          <p:cNvSpPr/>
          <p:nvPr/>
        </p:nvSpPr>
        <p:spPr>
          <a:xfrm>
            <a:off x="547688" y="3910236"/>
            <a:ext cx="8048625" cy="671513"/>
          </a:xfrm>
          <a:prstGeom prst="roundRect">
            <a:avLst>
              <a:gd name="adj" fmla="val 10894"/>
            </a:avLst>
          </a:prstGeom>
          <a:solidFill>
            <a:srgbClr val="2563EB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180" y="4131692"/>
            <a:ext cx="228600" cy="2286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88616" y="4031903"/>
            <a:ext cx="8601172" cy="423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36"/>
              </a:lnSpc>
              <a:buNone/>
            </a:pPr>
            <a:r>
              <a:rPr lang="en-US" sz="12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Takeaway: Greedy gives the fastest solution when it works — always verify the</a:t>
            </a:r>
            <a:endParaRPr lang="en-US" sz="1220" dirty="0"/>
          </a:p>
          <a:p>
            <a:pPr marL="0" indent="0" algn="l">
              <a:lnSpc>
                <a:spcPts val="1836"/>
              </a:lnSpc>
              <a:buNone/>
            </a:pPr>
            <a:r>
              <a:rPr lang="en-US" sz="12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greedy-choice property first.</a:t>
            </a:r>
            <a:endParaRPr lang="en-US" sz="12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30"/>
            <a:ext cx="9144000" cy="923925"/>
          </a:xfrm>
          <a:prstGeom prst="rect">
            <a:avLst/>
          </a:prstGeom>
          <a:solidFill>
            <a:srgbClr val="1E3A6E"/>
          </a:solidFill>
          <a:ln/>
        </p:spPr>
      </p:sp>
      <p:sp>
        <p:nvSpPr>
          <p:cNvPr id="4" name="Text 2"/>
          <p:cNvSpPr/>
          <p:nvPr/>
        </p:nvSpPr>
        <p:spPr>
          <a:xfrm>
            <a:off x="548580" y="258812"/>
            <a:ext cx="2483927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90" b="1" kern="0" spc="-5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References</a:t>
            </a:r>
            <a:endParaRPr lang="en-US" sz="2590" dirty="0"/>
          </a:p>
        </p:txBody>
      </p:sp>
      <p:sp>
        <p:nvSpPr>
          <p:cNvPr id="5" name="Shape 3"/>
          <p:cNvSpPr/>
          <p:nvPr/>
        </p:nvSpPr>
        <p:spPr>
          <a:xfrm>
            <a:off x="0" y="902308"/>
            <a:ext cx="9144000" cy="238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49027" y="1818084"/>
            <a:ext cx="319088" cy="319088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7" name="Text 5"/>
          <p:cNvSpPr/>
          <p:nvPr/>
        </p:nvSpPr>
        <p:spPr>
          <a:xfrm>
            <a:off x="679847" y="1893838"/>
            <a:ext cx="131735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1005706" y="1836688"/>
            <a:ext cx="359022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E3A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 to Algorithms (CLRS)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1005706" y="2060302"/>
            <a:ext cx="4150727" cy="391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Cormen, Leiserson, Rivest, Stein — MIT Press, 4th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Edition. Chapter 16: Greedy Algorithms.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549027" y="2591172"/>
            <a:ext cx="319088" cy="319088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11" name="Text 9"/>
          <p:cNvSpPr/>
          <p:nvPr/>
        </p:nvSpPr>
        <p:spPr>
          <a:xfrm>
            <a:off x="666824" y="2666926"/>
            <a:ext cx="165594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1005706" y="2609776"/>
            <a:ext cx="39727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E3A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Fundamentals of Data Structures in C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1005706" y="2833390"/>
            <a:ext cx="4416661" cy="391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Ellis Horowitz, Sartaj Sahni — W. H. Freeman and Co.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Chapter on Greedy Methods.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49027" y="3364260"/>
            <a:ext cx="319088" cy="31908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66452" y="3440013"/>
            <a:ext cx="16665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1005706" y="3382863"/>
            <a:ext cx="161279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E3A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GeeksforGeeks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1005706" y="3606478"/>
            <a:ext cx="4386091" cy="391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Greedy Algorithms — Articles, examples, and coding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practice.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1005706" y="4013076"/>
            <a:ext cx="2945755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u="sng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geeksforgeeks.org/greedy-algorithms</a:t>
            </a:r>
            <a:endParaRPr lang="en-US" sz="1010" dirty="0"/>
          </a:p>
        </p:txBody>
      </p:sp>
      <p:sp>
        <p:nvSpPr>
          <p:cNvPr id="19" name="Shape 17"/>
          <p:cNvSpPr/>
          <p:nvPr/>
        </p:nvSpPr>
        <p:spPr>
          <a:xfrm>
            <a:off x="4755356" y="1649239"/>
            <a:ext cx="319088" cy="31908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4866010" y="1724992"/>
            <a:ext cx="184167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5212035" y="1667842"/>
            <a:ext cx="113133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E3A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Programiz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5212035" y="1891457"/>
            <a:ext cx="4288966" cy="391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Beginner-friendly tutorials with clear examples and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step-by-step walkthroughs.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5212035" y="2298055"/>
            <a:ext cx="2959298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u="sng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programiz.com/dsa/greedy-algorithm</a:t>
            </a:r>
            <a:endParaRPr lang="en-US" sz="1010" dirty="0"/>
          </a:p>
        </p:txBody>
      </p:sp>
      <p:sp>
        <p:nvSpPr>
          <p:cNvPr id="24" name="Shape 22"/>
          <p:cNvSpPr/>
          <p:nvPr/>
        </p:nvSpPr>
        <p:spPr>
          <a:xfrm>
            <a:off x="4755356" y="2614315"/>
            <a:ext cx="319088" cy="319088"/>
          </a:xfrm>
          <a:prstGeom prst="ellipse">
            <a:avLst/>
          </a:prstGeom>
          <a:solidFill>
            <a:srgbClr val="1E3A6E"/>
          </a:solidFill>
          <a:ln/>
        </p:spPr>
      </p:sp>
      <p:sp>
        <p:nvSpPr>
          <p:cNvPr id="25" name="Text 23"/>
          <p:cNvSpPr/>
          <p:nvPr/>
        </p:nvSpPr>
        <p:spPr>
          <a:xfrm>
            <a:off x="4872410" y="2690068"/>
            <a:ext cx="167528" cy="166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5212035" y="2632918"/>
            <a:ext cx="291112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1E3A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NPTEL — IIT Video Lectures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5212035" y="2856533"/>
            <a:ext cx="3596900" cy="391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Free video lectures on Data Structures and</a:t>
            </a:r>
            <a:endParaRPr lang="en-US" sz="1080" dirty="0"/>
          </a:p>
          <a:p>
            <a:pPr marL="0" indent="0" algn="l">
              <a:lnSpc>
                <a:spcPts val="162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Algorithms by IIT professors.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5212035" y="3263131"/>
            <a:ext cx="859401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10" u="sng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nptel.ac.in</a:t>
            </a:r>
            <a:endParaRPr lang="en-US" sz="1010" dirty="0"/>
          </a:p>
        </p:txBody>
      </p:sp>
      <p:sp>
        <p:nvSpPr>
          <p:cNvPr id="29" name="Shape 27"/>
          <p:cNvSpPr/>
          <p:nvPr/>
        </p:nvSpPr>
        <p:spPr>
          <a:xfrm>
            <a:off x="4755914" y="3630625"/>
            <a:ext cx="3838575" cy="738188"/>
          </a:xfrm>
          <a:prstGeom prst="roundRect">
            <a:avLst>
              <a:gd name="adj" fmla="val 9910"/>
            </a:avLst>
          </a:prstGeom>
          <a:solidFill>
            <a:srgbClr val="1E3A6E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510" y="3757017"/>
            <a:ext cx="1530377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kern="0" spc="-16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1580" dirty="0"/>
          </a:p>
        </p:txBody>
      </p:sp>
      <p:sp>
        <p:nvSpPr>
          <p:cNvPr id="31" name="Text 29"/>
          <p:cNvSpPr/>
          <p:nvPr/>
        </p:nvSpPr>
        <p:spPr>
          <a:xfrm>
            <a:off x="4983510" y="4070077"/>
            <a:ext cx="205324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03"/>
              </a:spcBef>
              <a:buNone/>
            </a:pPr>
            <a:r>
              <a:rPr lang="en-US" sz="1080" dirty="0">
                <a:solidFill>
                  <a:srgbClr val="BFDB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Questions are welcome!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1155</Words>
  <Application>Microsoft Office PowerPoint</Application>
  <PresentationFormat>On-screen Show (16:9)</PresentationFormat>
  <Paragraphs>308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-apple-system</vt:lpstr>
      <vt:lpstr>Arial</vt:lpstr>
      <vt:lpstr>Courier New</vt:lpstr>
      <vt:lpstr>Montserrat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Amolika Shinde</cp:lastModifiedBy>
  <cp:revision>3</cp:revision>
  <dcterms:created xsi:type="dcterms:W3CDTF">2026-07-27T13:28:47Z</dcterms:created>
  <dcterms:modified xsi:type="dcterms:W3CDTF">2026-07-27T13:36:02Z</dcterms:modified>
</cp:coreProperties>
</file>