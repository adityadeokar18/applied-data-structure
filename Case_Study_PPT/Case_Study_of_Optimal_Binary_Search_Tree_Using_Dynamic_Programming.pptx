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206218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1"/>
          <p:cNvSpPr/>
          <p:nvPr/>
        </p:nvSpPr>
        <p:spPr>
          <a:xfrm>
            <a:off x="342900" y="400050"/>
            <a:ext cx="352041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2" kern="0" dirty="0">
                <a:solidFill>
                  <a:srgbClr val="A9C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DATA STRUCTURES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342900" y="760809"/>
            <a:ext cx="3520418" cy="2082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2750" b="1" spc="-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of Optimal Binary Search Tree Using Dynamic Programming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42900" y="3043684"/>
            <a:ext cx="3520418" cy="462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C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search frequencies guide the structure of an efficient BST.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42900" y="4364831"/>
            <a:ext cx="352041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</a:t>
            </a:r>
            <a:r>
              <a:rPr lang="en-US" sz="95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Deokar Aditya Sandip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42900" y="4557713"/>
            <a:ext cx="352041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/ Division:</a:t>
            </a:r>
            <a:r>
              <a:rPr lang="en-US" sz="95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TY-A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42900" y="4750594"/>
            <a:ext cx="352041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College:</a:t>
            </a:r>
            <a:r>
              <a:rPr lang="en-US" sz="950" dirty="0">
                <a:solidFill>
                  <a:srgbClr val="E6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Sanjivani College of Engineering, Kopargaon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06218" y="0"/>
            <a:ext cx="4937727" cy="5143500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11" name="Shape 8"/>
          <p:cNvSpPr/>
          <p:nvPr/>
        </p:nvSpPr>
        <p:spPr>
          <a:xfrm>
            <a:off x="6389303" y="1557338"/>
            <a:ext cx="585788" cy="385763"/>
          </a:xfrm>
          <a:prstGeom prst="rect">
            <a:avLst/>
          </a:prstGeom>
          <a:solidFill>
            <a:srgbClr val="1A365D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9303" y="1557338"/>
            <a:ext cx="58578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03491" y="2271713"/>
            <a:ext cx="585788" cy="385763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03491" y="2271713"/>
            <a:ext cx="58578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175116" y="2271713"/>
            <a:ext cx="585788" cy="385763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75116" y="2271713"/>
            <a:ext cx="58578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103428" y="2986088"/>
            <a:ext cx="585788" cy="385763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03428" y="2986088"/>
            <a:ext cx="58578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718041" y="2986088"/>
            <a:ext cx="585788" cy="385763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18041" y="2986088"/>
            <a:ext cx="58578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46278" y="3886200"/>
            <a:ext cx="18118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BINARY SEARCH TREE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5763"/>
            <a:ext cx="82296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MOTIVATION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603647"/>
            <a:ext cx="82296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Search Structure Matters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57200" y="1200150"/>
            <a:ext cx="3456403" cy="476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Searching is one of the most common operations in computer science.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1833711"/>
            <a:ext cx="3456403" cy="476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11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Tree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stores ordered data, but </a:t>
            </a: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performance depends on its shape.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2467273"/>
            <a:ext cx="3456403" cy="476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frequently searched keys sit close to the root, the average search path becomes shorter.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100834"/>
            <a:ext cx="3456403" cy="476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motivates the Optimal Binary Search Tree.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270790" y="1328738"/>
            <a:ext cx="2279414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BST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70790" y="1578769"/>
            <a:ext cx="2279414" cy="1785938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11" name="Shape 8"/>
          <p:cNvSpPr/>
          <p:nvPr/>
        </p:nvSpPr>
        <p:spPr>
          <a:xfrm>
            <a:off x="5020884" y="1878806"/>
            <a:ext cx="414338" cy="285750"/>
          </a:xfrm>
          <a:prstGeom prst="rect">
            <a:avLst/>
          </a:prstGeom>
          <a:solidFill>
            <a:srgbClr val="1A365D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0884" y="1878806"/>
            <a:ext cx="414338" cy="285750"/>
          </a:xfrm>
          <a:prstGeom prst="rect">
            <a:avLst/>
          </a:prstGeom>
          <a:noFill/>
          <a:ln/>
        </p:spPr>
        <p:txBody>
          <a:bodyPr wrap="none" lIns="0" tIns="76581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570828" y="2307431"/>
            <a:ext cx="414338" cy="2857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0828" y="2307431"/>
            <a:ext cx="414338" cy="285750"/>
          </a:xfrm>
          <a:prstGeom prst="rect">
            <a:avLst/>
          </a:prstGeom>
          <a:noFill/>
          <a:ln/>
        </p:spPr>
        <p:txBody>
          <a:bodyPr wrap="none" lIns="0" tIns="76581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470940" y="2307431"/>
            <a:ext cx="414338" cy="2857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70940" y="2307431"/>
            <a:ext cx="414338" cy="285750"/>
          </a:xfrm>
          <a:prstGeom prst="rect">
            <a:avLst/>
          </a:prstGeom>
          <a:noFill/>
          <a:ln/>
        </p:spPr>
        <p:txBody>
          <a:bodyPr wrap="none" lIns="0" tIns="76581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342228" y="2750344"/>
            <a:ext cx="414338" cy="2857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42228" y="2750344"/>
            <a:ext cx="414338" cy="285750"/>
          </a:xfrm>
          <a:prstGeom prst="rect">
            <a:avLst/>
          </a:prstGeom>
          <a:noFill/>
          <a:ln/>
        </p:spPr>
        <p:txBody>
          <a:bodyPr wrap="none" lIns="0" tIns="76581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699540" y="2750344"/>
            <a:ext cx="414338" cy="2857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99540" y="2750344"/>
            <a:ext cx="414338" cy="285750"/>
          </a:xfrm>
          <a:prstGeom prst="rect">
            <a:avLst/>
          </a:prstGeom>
          <a:noFill/>
          <a:ln/>
        </p:spPr>
        <p:txBody>
          <a:bodyPr wrap="none" lIns="0" tIns="76581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270790" y="3450431"/>
            <a:ext cx="2279414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Shorter average paths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6764517" y="1328738"/>
            <a:ext cx="2279414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Unbalanced BST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764517" y="1578769"/>
            <a:ext cx="2279414" cy="1785938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24" name="Shape 21"/>
          <p:cNvSpPr/>
          <p:nvPr/>
        </p:nvSpPr>
        <p:spPr>
          <a:xfrm>
            <a:off x="6978830" y="1828800"/>
            <a:ext cx="414338" cy="2857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78830" y="1828800"/>
            <a:ext cx="414338" cy="285750"/>
          </a:xfrm>
          <a:prstGeom prst="rect">
            <a:avLst/>
          </a:prstGeom>
          <a:noFill/>
          <a:ln/>
        </p:spPr>
        <p:txBody>
          <a:bodyPr wrap="none" lIns="0" tIns="76581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7421742" y="2164556"/>
            <a:ext cx="414338" cy="2857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21742" y="2164556"/>
            <a:ext cx="414338" cy="285750"/>
          </a:xfrm>
          <a:prstGeom prst="rect">
            <a:avLst/>
          </a:prstGeom>
          <a:noFill/>
          <a:ln/>
        </p:spPr>
        <p:txBody>
          <a:bodyPr wrap="none" lIns="0" tIns="76581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7864655" y="2500313"/>
            <a:ext cx="414338" cy="2857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64655" y="2500313"/>
            <a:ext cx="414338" cy="285750"/>
          </a:xfrm>
          <a:prstGeom prst="rect">
            <a:avLst/>
          </a:prstGeom>
          <a:noFill/>
          <a:ln/>
        </p:spPr>
        <p:txBody>
          <a:bodyPr wrap="none" lIns="0" tIns="76581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8307567" y="2836069"/>
            <a:ext cx="414338" cy="2857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07567" y="2836069"/>
            <a:ext cx="414338" cy="285750"/>
          </a:xfrm>
          <a:prstGeom prst="rect">
            <a:avLst/>
          </a:prstGeom>
          <a:noFill/>
          <a:ln/>
        </p:spPr>
        <p:txBody>
          <a:bodyPr wrap="none" lIns="0" tIns="76581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764517" y="3450431"/>
            <a:ext cx="2279414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search paths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5763"/>
            <a:ext cx="82296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FOUNDATIONS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603647"/>
            <a:ext cx="82296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Trees and Binary Search Trees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457200" y="1193006"/>
            <a:ext cx="4279385" cy="3500438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6" name="Shape 3"/>
          <p:cNvSpPr/>
          <p:nvPr/>
        </p:nvSpPr>
        <p:spPr>
          <a:xfrm>
            <a:off x="2028825" y="1735931"/>
            <a:ext cx="628650" cy="414338"/>
          </a:xfrm>
          <a:prstGeom prst="rect">
            <a:avLst/>
          </a:prstGeom>
          <a:solidFill>
            <a:srgbClr val="1A365D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28825" y="1735931"/>
            <a:ext cx="628650" cy="414338"/>
          </a:xfrm>
          <a:prstGeom prst="rect">
            <a:avLst/>
          </a:prstGeom>
          <a:noFill/>
          <a:ln/>
        </p:spPr>
        <p:txBody>
          <a:bodyPr wrap="none" lIns="0" tIns="12750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171575" y="2536031"/>
            <a:ext cx="628650" cy="414338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71575" y="2536031"/>
            <a:ext cx="628650" cy="414338"/>
          </a:xfrm>
          <a:prstGeom prst="rect">
            <a:avLst/>
          </a:prstGeom>
          <a:noFill/>
          <a:ln/>
        </p:spPr>
        <p:txBody>
          <a:bodyPr wrap="none" lIns="0" tIns="12750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886075" y="2536031"/>
            <a:ext cx="628650" cy="414338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86075" y="2536031"/>
            <a:ext cx="628650" cy="414338"/>
          </a:xfrm>
          <a:prstGeom prst="rect">
            <a:avLst/>
          </a:prstGeom>
          <a:noFill/>
          <a:ln/>
        </p:spPr>
        <p:txBody>
          <a:bodyPr wrap="none" lIns="0" tIns="12750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2950" y="3336131"/>
            <a:ext cx="628650" cy="414338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2950" y="3336131"/>
            <a:ext cx="628650" cy="414338"/>
          </a:xfrm>
          <a:prstGeom prst="rect">
            <a:avLst/>
          </a:prstGeom>
          <a:noFill/>
          <a:ln/>
        </p:spPr>
        <p:txBody>
          <a:bodyPr wrap="none" lIns="0" tIns="12750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529013" y="3336131"/>
            <a:ext cx="628650" cy="414338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29013" y="3336131"/>
            <a:ext cx="628650" cy="414338"/>
          </a:xfrm>
          <a:prstGeom prst="rect">
            <a:avLst/>
          </a:prstGeom>
          <a:noFill/>
          <a:ln/>
        </p:spPr>
        <p:txBody>
          <a:bodyPr wrap="none" lIns="0" tIns="12750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671763" y="1514475"/>
            <a:ext cx="260245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57225" y="2300288"/>
            <a:ext cx="132086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node / Left child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693319" y="2300288"/>
            <a:ext cx="59047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child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42925" y="3836194"/>
            <a:ext cx="53980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 node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036623" y="1193006"/>
            <a:ext cx="3950159" cy="49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tree</a:t>
            </a:r>
            <a:r>
              <a:rPr lang="en-US" sz="12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hierarchical: each node has at </a:t>
            </a:r>
            <a:r>
              <a:rPr lang="en-US" sz="12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two children.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036623" y="1833042"/>
            <a:ext cx="3950159" cy="49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</a:t>
            </a: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BST</a:t>
            </a:r>
            <a:r>
              <a:rPr lang="en-US" sz="12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left-subtree keys are smaller and right-</a:t>
            </a:r>
            <a:r>
              <a:rPr lang="en-US" sz="12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subtree keys are greater than the root.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036623" y="2473077"/>
            <a:ext cx="3950159" cy="49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subtrees must themselves satisfy the BST rule.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036623" y="3155975"/>
            <a:ext cx="3950159" cy="605768"/>
          </a:xfrm>
          <a:prstGeom prst="rect">
            <a:avLst/>
          </a:prstGeom>
          <a:noFill/>
          <a:ln/>
        </p:spPr>
        <p:txBody>
          <a:bodyPr wrap="square" lIns="0" tIns="153035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keys 10, 20, 30, 40, 50.</a:t>
            </a: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Searching for 50 follows </a:t>
            </a: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→ 40 → 50</a:t>
            </a: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5763"/>
            <a:ext cx="82296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THE PROBLEM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603647"/>
            <a:ext cx="82296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Ordinary BST Problem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57200" y="1050131"/>
            <a:ext cx="7643813" cy="2299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insertion order can produce very different tree shapes—even when the keys are identical.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394427"/>
            <a:ext cx="3964781" cy="2293144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7" name="Text 4"/>
          <p:cNvSpPr/>
          <p:nvPr/>
        </p:nvSpPr>
        <p:spPr>
          <a:xfrm>
            <a:off x="600075" y="1480152"/>
            <a:ext cx="367903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BST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0075" y="1751614"/>
            <a:ext cx="367903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are distributed across levels.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685925" y="2098086"/>
            <a:ext cx="457200" cy="314325"/>
          </a:xfrm>
          <a:prstGeom prst="rect">
            <a:avLst/>
          </a:prstGeom>
          <a:solidFill>
            <a:srgbClr val="1A365D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85925" y="2098086"/>
            <a:ext cx="4572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143000" y="2433842"/>
            <a:ext cx="457200" cy="3143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3000" y="2433842"/>
            <a:ext cx="4572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043113" y="2433842"/>
            <a:ext cx="457200" cy="3143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43113" y="2433842"/>
            <a:ext cx="4572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42963" y="2776742"/>
            <a:ext cx="457200" cy="3143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2963" y="2776742"/>
            <a:ext cx="4572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343150" y="2776742"/>
            <a:ext cx="457200" cy="3143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343150" y="2776742"/>
            <a:ext cx="4572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0075" y="3398248"/>
            <a:ext cx="79379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paths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945011" y="3398248"/>
            <a:ext cx="133409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average cost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22019" y="1394427"/>
            <a:ext cx="3964781" cy="2293144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22" name="Text 19"/>
          <p:cNvSpPr/>
          <p:nvPr/>
        </p:nvSpPr>
        <p:spPr>
          <a:xfrm>
            <a:off x="4864894" y="1480152"/>
            <a:ext cx="367903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Skewed BST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864894" y="1751614"/>
            <a:ext cx="367903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insertion creates a chain.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115050" y="2019505"/>
            <a:ext cx="457200" cy="314325"/>
          </a:xfrm>
          <a:prstGeom prst="rect">
            <a:avLst/>
          </a:prstGeom>
          <a:solidFill>
            <a:srgbClr val="1A365D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15050" y="2019505"/>
            <a:ext cx="4572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115050" y="2269536"/>
            <a:ext cx="457200" cy="3143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15050" y="2269536"/>
            <a:ext cx="4572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115050" y="2526711"/>
            <a:ext cx="457200" cy="3143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15050" y="2526711"/>
            <a:ext cx="4572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115050" y="2776742"/>
            <a:ext cx="457200" cy="3143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15050" y="2776742"/>
            <a:ext cx="4572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115050" y="3033917"/>
            <a:ext cx="457200" cy="3143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15050" y="3033917"/>
            <a:ext cx="4572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864894" y="3398248"/>
            <a:ext cx="76985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paths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178073" y="3398248"/>
            <a:ext cx="1365852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average cost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57200" y="3773295"/>
            <a:ext cx="8229600" cy="72174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57200" y="3773295"/>
            <a:ext cx="8229600" cy="285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3859020"/>
            <a:ext cx="2657475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tree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shorter search paths.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3243263" y="3859020"/>
            <a:ext cx="2657475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Skewed tree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comparisons per search.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6029325" y="3859020"/>
            <a:ext cx="2657475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ordinary BST is not automatically 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5763"/>
            <a:ext cx="82296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THE OBJECTIVE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603647"/>
            <a:ext cx="82296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spc="-1" kern="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 BST Optimal?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57200" y="1150144"/>
            <a:ext cx="4279385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</a:t>
            </a: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Binary Search Tree</a:t>
            </a:r>
            <a:r>
              <a:rPr lang="en-US" sz="12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arranged so that </a:t>
            </a:r>
            <a:r>
              <a:rPr lang="en-US" sz="12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expected search cost is minimum, </a:t>
            </a:r>
            <a:r>
              <a:rPr lang="en-US" sz="12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considering key frequencies or probabilities.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2207419"/>
            <a:ext cx="242888" cy="212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050" b="1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00088" y="2228850"/>
            <a:ext cx="361083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Frequently searched keys should be closer to the root.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527548"/>
            <a:ext cx="242888" cy="212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050" b="1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00088" y="2548979"/>
            <a:ext cx="367769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Rarely searched keys can be placed deeper in the tree.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847677"/>
            <a:ext cx="242888" cy="212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050" b="1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0088" y="2869109"/>
            <a:ext cx="356076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 is to minimize the weighted path length.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232100"/>
            <a:ext cx="4279385" cy="85725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0"/>
          <p:cNvSpPr/>
          <p:nvPr/>
        </p:nvSpPr>
        <p:spPr>
          <a:xfrm>
            <a:off x="614363" y="3364260"/>
            <a:ext cx="374064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expected search cost = Optimal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14363" y="3578572"/>
            <a:ext cx="37794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14363" y="3839319"/>
            <a:ext cx="396506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FE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frequency determines how valuable a shallow position is.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036623" y="1150144"/>
            <a:ext cx="3950159" cy="2714625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17" name="Shape 14"/>
          <p:cNvSpPr/>
          <p:nvPr/>
        </p:nvSpPr>
        <p:spPr>
          <a:xfrm>
            <a:off x="5036623" y="1150144"/>
            <a:ext cx="3950159" cy="285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5"/>
          <p:cNvSpPr/>
          <p:nvPr/>
        </p:nvSpPr>
        <p:spPr>
          <a:xfrm>
            <a:off x="5193785" y="1271588"/>
            <a:ext cx="3792996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Frequency-weighted placement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222360" y="1778794"/>
            <a:ext cx="4539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222360" y="2564606"/>
            <a:ext cx="4539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6501092" y="1664494"/>
            <a:ext cx="557213" cy="357188"/>
          </a:xfrm>
          <a:prstGeom prst="rect">
            <a:avLst/>
          </a:prstGeom>
          <a:solidFill>
            <a:srgbClr val="1A365D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01092" y="1664494"/>
            <a:ext cx="557213" cy="35718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715279" y="2450306"/>
            <a:ext cx="557213" cy="357188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15279" y="2450306"/>
            <a:ext cx="557213" cy="35718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286904" y="2450306"/>
            <a:ext cx="557213" cy="357188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86904" y="2450306"/>
            <a:ext cx="557213" cy="357188"/>
          </a:xfrm>
          <a:prstGeom prst="rect">
            <a:avLst/>
          </a:prstGeom>
          <a:noFill/>
          <a:ln/>
        </p:spPr>
        <p:txBody>
          <a:bodyPr wrap="none" lIns="0" tIns="10210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208073" y="3328988"/>
            <a:ext cx="3607259" cy="392906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Illustration:</a:t>
            </a: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key 30 is searched most often, placing it near </a:t>
            </a: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root can lower total cost.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57200" y="4289375"/>
            <a:ext cx="8229600" cy="2571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457200" y="4289375"/>
            <a:ext cx="8229600" cy="7144"/>
          </a:xfrm>
          <a:prstGeom prst="rect">
            <a:avLst/>
          </a:prstGeom>
          <a:solidFill>
            <a:srgbClr val="B9C9D5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4389388"/>
            <a:ext cx="77163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371712" y="4394746"/>
            <a:ext cx="63445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Dictionaries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91891" y="4394746"/>
            <a:ext cx="4252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2220144" y="4394746"/>
            <a:ext cx="7627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 tables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3068631" y="4394746"/>
            <a:ext cx="4252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196884" y="4394746"/>
            <a:ext cx="105281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structures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335419" y="4394746"/>
            <a:ext cx="4252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463672" y="4394746"/>
            <a:ext cx="117442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lookup systems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723818" y="4394746"/>
            <a:ext cx="4252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852071" y="4394746"/>
            <a:ext cx="153255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Database-indexing concepts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5763"/>
            <a:ext cx="82296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ALGORITHMIC THINKING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603647"/>
            <a:ext cx="8229600" cy="330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100" b="1" spc="-1" kern="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Programming: The Core Idea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57200" y="1090817"/>
            <a:ext cx="7715250" cy="462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Programming (DP)</a:t>
            </a:r>
            <a:r>
              <a:rPr lang="en-US" sz="12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solves a complex problem by breaking it into smaller, overlapping </a:t>
            </a:r>
            <a:r>
              <a:rPr lang="en-US" sz="12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subproblems and storing their solutions for reuse.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946616"/>
            <a:ext cx="1485900" cy="942975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946616"/>
            <a:ext cx="1485900" cy="35719"/>
          </a:xfrm>
          <a:prstGeom prst="rect">
            <a:avLst/>
          </a:prstGeom>
          <a:solidFill>
            <a:srgbClr val="829AB1"/>
          </a:solidFill>
          <a:ln/>
        </p:spPr>
      </p:sp>
      <p:sp>
        <p:nvSpPr>
          <p:cNvPr id="8" name="Text 5"/>
          <p:cNvSpPr/>
          <p:nvPr/>
        </p:nvSpPr>
        <p:spPr>
          <a:xfrm>
            <a:off x="557213" y="2166119"/>
            <a:ext cx="12858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spc="1" kern="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57213" y="2359000"/>
            <a:ext cx="1285875" cy="353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440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</a:t>
            </a: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943100" y="2407388"/>
            <a:ext cx="200025" cy="21431"/>
          </a:xfrm>
          <a:prstGeom prst="rect">
            <a:avLst/>
          </a:prstGeom>
          <a:solidFill>
            <a:srgbClr val="829AB1"/>
          </a:solidFill>
          <a:ln/>
        </p:spPr>
      </p:sp>
      <p:sp>
        <p:nvSpPr>
          <p:cNvPr id="11" name="Shape 8"/>
          <p:cNvSpPr/>
          <p:nvPr/>
        </p:nvSpPr>
        <p:spPr>
          <a:xfrm>
            <a:off x="2143125" y="1946616"/>
            <a:ext cx="1485900" cy="942975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12" name="Shape 9"/>
          <p:cNvSpPr/>
          <p:nvPr/>
        </p:nvSpPr>
        <p:spPr>
          <a:xfrm>
            <a:off x="2143125" y="1946616"/>
            <a:ext cx="1485900" cy="35719"/>
          </a:xfrm>
          <a:prstGeom prst="rect">
            <a:avLst/>
          </a:prstGeom>
          <a:solidFill>
            <a:srgbClr val="829AB1"/>
          </a:solidFill>
          <a:ln/>
        </p:spPr>
      </p:sp>
      <p:sp>
        <p:nvSpPr>
          <p:cNvPr id="13" name="Text 10"/>
          <p:cNvSpPr/>
          <p:nvPr/>
        </p:nvSpPr>
        <p:spPr>
          <a:xfrm>
            <a:off x="2243138" y="2166119"/>
            <a:ext cx="12858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spc="1" kern="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2243138" y="2359000"/>
            <a:ext cx="1285875" cy="353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440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</a:t>
            </a: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subproblems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29025" y="2407388"/>
            <a:ext cx="200025" cy="21431"/>
          </a:xfrm>
          <a:prstGeom prst="rect">
            <a:avLst/>
          </a:prstGeom>
          <a:solidFill>
            <a:srgbClr val="829AB1"/>
          </a:solidFill>
          <a:ln/>
        </p:spPr>
      </p:sp>
      <p:sp>
        <p:nvSpPr>
          <p:cNvPr id="16" name="Shape 13"/>
          <p:cNvSpPr/>
          <p:nvPr/>
        </p:nvSpPr>
        <p:spPr>
          <a:xfrm>
            <a:off x="3829050" y="1946616"/>
            <a:ext cx="1485900" cy="942975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17" name="Shape 14"/>
          <p:cNvSpPr/>
          <p:nvPr/>
        </p:nvSpPr>
        <p:spPr>
          <a:xfrm>
            <a:off x="3829050" y="1946616"/>
            <a:ext cx="1485900" cy="35719"/>
          </a:xfrm>
          <a:prstGeom prst="rect">
            <a:avLst/>
          </a:prstGeom>
          <a:solidFill>
            <a:srgbClr val="829AB1"/>
          </a:solidFill>
          <a:ln/>
        </p:spPr>
      </p:sp>
      <p:sp>
        <p:nvSpPr>
          <p:cNvPr id="18" name="Text 15"/>
          <p:cNvSpPr/>
          <p:nvPr/>
        </p:nvSpPr>
        <p:spPr>
          <a:xfrm>
            <a:off x="3929063" y="2166119"/>
            <a:ext cx="12858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spc="1" kern="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929063" y="2359000"/>
            <a:ext cx="1285875" cy="353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440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314950" y="2407388"/>
            <a:ext cx="200025" cy="21431"/>
          </a:xfrm>
          <a:prstGeom prst="rect">
            <a:avLst/>
          </a:prstGeom>
          <a:solidFill>
            <a:srgbClr val="829AB1"/>
          </a:solidFill>
          <a:ln/>
        </p:spPr>
      </p:sp>
      <p:sp>
        <p:nvSpPr>
          <p:cNvPr id="21" name="Shape 18"/>
          <p:cNvSpPr/>
          <p:nvPr/>
        </p:nvSpPr>
        <p:spPr>
          <a:xfrm>
            <a:off x="5514975" y="1946616"/>
            <a:ext cx="1485900" cy="942975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22" name="Shape 19"/>
          <p:cNvSpPr/>
          <p:nvPr/>
        </p:nvSpPr>
        <p:spPr>
          <a:xfrm>
            <a:off x="5514975" y="1946616"/>
            <a:ext cx="1485900" cy="35719"/>
          </a:xfrm>
          <a:prstGeom prst="rect">
            <a:avLst/>
          </a:prstGeom>
          <a:solidFill>
            <a:srgbClr val="829AB1"/>
          </a:solidFill>
          <a:ln/>
        </p:spPr>
      </p:sp>
      <p:sp>
        <p:nvSpPr>
          <p:cNvPr id="23" name="Text 20"/>
          <p:cNvSpPr/>
          <p:nvPr/>
        </p:nvSpPr>
        <p:spPr>
          <a:xfrm>
            <a:off x="5614988" y="2166119"/>
            <a:ext cx="12858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spc="1" kern="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614988" y="2359000"/>
            <a:ext cx="1285875" cy="353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440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</a:t>
            </a: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000875" y="2407388"/>
            <a:ext cx="200025" cy="21431"/>
          </a:xfrm>
          <a:prstGeom prst="rect">
            <a:avLst/>
          </a:prstGeom>
          <a:solidFill>
            <a:srgbClr val="829AB1"/>
          </a:solidFill>
          <a:ln/>
        </p:spPr>
      </p:sp>
      <p:sp>
        <p:nvSpPr>
          <p:cNvPr id="26" name="Shape 23"/>
          <p:cNvSpPr/>
          <p:nvPr/>
        </p:nvSpPr>
        <p:spPr>
          <a:xfrm>
            <a:off x="7200900" y="1946616"/>
            <a:ext cx="1485900" cy="9429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7" name="Shape 24"/>
          <p:cNvSpPr/>
          <p:nvPr/>
        </p:nvSpPr>
        <p:spPr>
          <a:xfrm>
            <a:off x="7200900" y="1946616"/>
            <a:ext cx="1485900" cy="35719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8" name="Text 25"/>
          <p:cNvSpPr/>
          <p:nvPr/>
        </p:nvSpPr>
        <p:spPr>
          <a:xfrm>
            <a:off x="7300913" y="2166119"/>
            <a:ext cx="12858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spc="1" kern="0" dirty="0">
                <a:solidFill>
                  <a:srgbClr val="A9C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7300913" y="2359000"/>
            <a:ext cx="1285875" cy="353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44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optimal</a:t>
            </a: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57200" y="3268210"/>
            <a:ext cx="8229600" cy="113317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457200" y="3268210"/>
            <a:ext cx="8229600" cy="14288"/>
          </a:xfrm>
          <a:prstGeom prst="rect">
            <a:avLst/>
          </a:prstGeom>
          <a:solidFill>
            <a:srgbClr val="CBD7E1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3425372"/>
            <a:ext cx="3929063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Overlapping subproblems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57200" y="3707550"/>
            <a:ext cx="3929063" cy="425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smaller ranges or states appear repeatedly. DP solves each one once and records the result.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57200" y="4233509"/>
            <a:ext cx="3929063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repeated computation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757738" y="3425372"/>
            <a:ext cx="3929063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substructure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757738" y="3707550"/>
            <a:ext cx="3929063" cy="425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optimal solution can be built from optimal solutions to its smaller subproblems.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757738" y="4233509"/>
            <a:ext cx="3929063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best answer from the best parts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5763"/>
            <a:ext cx="82296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CASE STUDY LOGIC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603647"/>
            <a:ext cx="82296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OBST Uses Dynamic Programming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57200" y="1193006"/>
            <a:ext cx="3703309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the best root means comparing every valid root for each key range.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1832372"/>
            <a:ext cx="370330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range such as </a:t>
            </a:r>
            <a:r>
              <a:rPr lang="en-US" sz="1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[10, 20, 30]</a:t>
            </a: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each candidate root </a:t>
            </a: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a different left and right subtree.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2511028"/>
            <a:ext cx="116772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= 10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57200" y="2736056"/>
            <a:ext cx="1167724" cy="985838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9" name="Shape 6"/>
          <p:cNvSpPr/>
          <p:nvPr/>
        </p:nvSpPr>
        <p:spPr>
          <a:xfrm>
            <a:off x="935831" y="2907506"/>
            <a:ext cx="314325" cy="228600"/>
          </a:xfrm>
          <a:prstGeom prst="rect">
            <a:avLst/>
          </a:prstGeom>
          <a:solidFill>
            <a:srgbClr val="1A365D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5831" y="2907506"/>
            <a:ext cx="314325" cy="228600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0081" y="3293269"/>
            <a:ext cx="314325" cy="2286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0081" y="3293269"/>
            <a:ext cx="314325" cy="228600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221581" y="3293269"/>
            <a:ext cx="314325" cy="2286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21581" y="3293269"/>
            <a:ext cx="314325" cy="228600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724937" y="2511028"/>
            <a:ext cx="116778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= 20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724937" y="2736056"/>
            <a:ext cx="1167780" cy="985838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17" name="Shape 14"/>
          <p:cNvSpPr/>
          <p:nvPr/>
        </p:nvSpPr>
        <p:spPr>
          <a:xfrm>
            <a:off x="2203568" y="2907506"/>
            <a:ext cx="314325" cy="228600"/>
          </a:xfrm>
          <a:prstGeom prst="rect">
            <a:avLst/>
          </a:prstGeom>
          <a:solidFill>
            <a:srgbClr val="1A365D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03568" y="2907506"/>
            <a:ext cx="314325" cy="228600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1917818" y="3293269"/>
            <a:ext cx="314325" cy="2286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917818" y="3293269"/>
            <a:ext cx="314325" cy="228600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489318" y="3293269"/>
            <a:ext cx="314325" cy="2286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489318" y="3293269"/>
            <a:ext cx="314325" cy="228600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2992729" y="2511028"/>
            <a:ext cx="116772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= 30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992729" y="2736056"/>
            <a:ext cx="1167724" cy="985838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25" name="Shape 22"/>
          <p:cNvSpPr/>
          <p:nvPr/>
        </p:nvSpPr>
        <p:spPr>
          <a:xfrm>
            <a:off x="3471360" y="2907506"/>
            <a:ext cx="314325" cy="228600"/>
          </a:xfrm>
          <a:prstGeom prst="rect">
            <a:avLst/>
          </a:prstGeom>
          <a:solidFill>
            <a:srgbClr val="1A365D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71360" y="2907506"/>
            <a:ext cx="314325" cy="228600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185610" y="3293269"/>
            <a:ext cx="314325" cy="2286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185610" y="3293269"/>
            <a:ext cx="314325" cy="228600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757110" y="3293269"/>
            <a:ext cx="314325" cy="2286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757110" y="3293269"/>
            <a:ext cx="314325" cy="228600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696290" y="1193006"/>
            <a:ext cx="271463" cy="271463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2" name="Text 29"/>
          <p:cNvSpPr/>
          <p:nvPr/>
        </p:nvSpPr>
        <p:spPr>
          <a:xfrm>
            <a:off x="4696290" y="1193006"/>
            <a:ext cx="271463" cy="271463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110628" y="1193006"/>
            <a:ext cx="390472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candidate root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5110628" y="1421606"/>
            <a:ext cx="3904729" cy="183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each key as the root of the current range.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696290" y="1769139"/>
            <a:ext cx="271463" cy="271463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6" name="Text 33"/>
          <p:cNvSpPr/>
          <p:nvPr/>
        </p:nvSpPr>
        <p:spPr>
          <a:xfrm>
            <a:off x="4696290" y="1769139"/>
            <a:ext cx="271463" cy="271463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110628" y="1769139"/>
            <a:ext cx="390472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both subtrees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5110628" y="1997739"/>
            <a:ext cx="3904729" cy="183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the best cost for the left and right ranges.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696290" y="2345271"/>
            <a:ext cx="271463" cy="271463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0" name="Text 37"/>
          <p:cNvSpPr/>
          <p:nvPr/>
        </p:nvSpPr>
        <p:spPr>
          <a:xfrm>
            <a:off x="4696290" y="2345271"/>
            <a:ext cx="271463" cy="271463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110628" y="2345271"/>
            <a:ext cx="390472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weighted contribution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5110628" y="2573871"/>
            <a:ext cx="3904729" cy="183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the frequency contribution of the current range.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4696290" y="2921403"/>
            <a:ext cx="271463" cy="271463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4" name="Text 41"/>
          <p:cNvSpPr/>
          <p:nvPr/>
        </p:nvSpPr>
        <p:spPr>
          <a:xfrm>
            <a:off x="4696290" y="2921403"/>
            <a:ext cx="271463" cy="271463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5110628" y="2921403"/>
            <a:ext cx="390472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minimum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110628" y="3150003"/>
            <a:ext cx="3904729" cy="183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the best result so it can be reused by larger ranges.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4696290" y="3497535"/>
            <a:ext cx="4319067" cy="574291"/>
          </a:xfrm>
          <a:prstGeom prst="rect">
            <a:avLst/>
          </a:prstGeom>
          <a:noFill/>
          <a:ln/>
        </p:spPr>
        <p:txBody>
          <a:bodyPr wrap="square" lIns="0" tIns="153035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 </a:t>
            </a:r>
            <a:r>
              <a:rPr lang="en-US" sz="1100" b="1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overlapping subproblems </a:t>
            </a:r>
            <a:r>
              <a:rPr lang="en-US" sz="1100" b="1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optimal </a:t>
            </a: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substructure </a:t>
            </a:r>
            <a:r>
              <a:rPr lang="en-US" sz="1100" b="1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Dynamic Programming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5763"/>
            <a:ext cx="82296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CASE STUDY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603647"/>
            <a:ext cx="82296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Keys and Frequencies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57200" y="1193006"/>
            <a:ext cx="3209497" cy="46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begin with three ordered keys and their successful-search frequencies.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831032"/>
            <a:ext cx="3209497" cy="14930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60772" y="1834604"/>
            <a:ext cx="1052978" cy="371475"/>
          </a:xfrm>
          <a:prstGeom prst="rect">
            <a:avLst/>
          </a:prstGeom>
          <a:solidFill>
            <a:srgbClr val="1A365D"/>
          </a:solidFill>
          <a:ln w="9144">
            <a:solidFill>
              <a:srgbClr val="829AB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0772" y="1834604"/>
            <a:ext cx="1052978" cy="371475"/>
          </a:xfrm>
          <a:prstGeom prst="rect">
            <a:avLst/>
          </a:prstGeom>
          <a:noFill/>
          <a:ln/>
        </p:spPr>
        <p:txBody>
          <a:bodyPr wrap="none" lIns="119126" tIns="102108" rIns="119126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508782" y="1834604"/>
            <a:ext cx="2154343" cy="371475"/>
          </a:xfrm>
          <a:prstGeom prst="rect">
            <a:avLst/>
          </a:prstGeom>
          <a:solidFill>
            <a:srgbClr val="1A365D"/>
          </a:solidFill>
          <a:ln w="9144">
            <a:solidFill>
              <a:srgbClr val="829AB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08782" y="1834604"/>
            <a:ext cx="2154343" cy="371475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0772" y="2198936"/>
            <a:ext cx="1047843" cy="371475"/>
          </a:xfrm>
          <a:prstGeom prst="rect">
            <a:avLst/>
          </a:prstGeom>
          <a:solidFill>
            <a:srgbClr val="E7EEF3"/>
          </a:solidFill>
          <a:ln w="9144">
            <a:solidFill>
              <a:srgbClr val="829AB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0772" y="2198936"/>
            <a:ext cx="1047843" cy="371475"/>
          </a:xfrm>
          <a:prstGeom prst="rect">
            <a:avLst/>
          </a:prstGeom>
          <a:noFill/>
          <a:ln/>
        </p:spPr>
        <p:txBody>
          <a:bodyPr wrap="none" lIns="119126" tIns="102108" rIns="119126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508615" y="2198936"/>
            <a:ext cx="2154510" cy="371475"/>
          </a:xfrm>
          <a:prstGeom prst="rect">
            <a:avLst/>
          </a:prstGeom>
          <a:solidFill>
            <a:srgbClr val="E7EEF3"/>
          </a:solidFill>
          <a:ln w="9144">
            <a:solidFill>
              <a:srgbClr val="829AB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08615" y="2198936"/>
            <a:ext cx="2154510" cy="371475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60772" y="2563267"/>
            <a:ext cx="1047843" cy="371475"/>
          </a:xfrm>
          <a:prstGeom prst="rect">
            <a:avLst/>
          </a:prstGeom>
          <a:noFill/>
          <a:ln/>
        </p:spPr>
        <p:txBody>
          <a:bodyPr wrap="none" lIns="119126" tIns="102108" rIns="119126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508615" y="2563267"/>
            <a:ext cx="2154510" cy="371475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0772" y="2934742"/>
            <a:ext cx="1047843" cy="371475"/>
          </a:xfrm>
          <a:prstGeom prst="rect">
            <a:avLst/>
          </a:prstGeom>
          <a:solidFill>
            <a:srgbClr val="E7EEF3"/>
          </a:solidFill>
          <a:ln w="9144">
            <a:solidFill>
              <a:srgbClr val="829AB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0772" y="2934742"/>
            <a:ext cx="1047843" cy="371475"/>
          </a:xfrm>
          <a:prstGeom prst="rect">
            <a:avLst/>
          </a:prstGeom>
          <a:noFill/>
          <a:ln/>
        </p:spPr>
        <p:txBody>
          <a:bodyPr wrap="none" lIns="119126" tIns="102108" rIns="119126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1508615" y="2934742"/>
            <a:ext cx="2154510" cy="371475"/>
          </a:xfrm>
          <a:prstGeom prst="rect">
            <a:avLst/>
          </a:prstGeom>
          <a:solidFill>
            <a:srgbClr val="E7EEF3"/>
          </a:solidFill>
          <a:ln w="9144">
            <a:solidFill>
              <a:srgbClr val="829AB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508615" y="2934742"/>
            <a:ext cx="2154510" cy="371475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ctr">
            <a:sp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3459807"/>
            <a:ext cx="3209497" cy="746075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Observation: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key 30 is searched most often, so 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placing it near the root may reduce the overall 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966735" y="1193006"/>
            <a:ext cx="5020047" cy="3714750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23" name="Text 20"/>
          <p:cNvSpPr/>
          <p:nvPr/>
        </p:nvSpPr>
        <p:spPr>
          <a:xfrm>
            <a:off x="4138185" y="1321594"/>
            <a:ext cx="4677147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keys with search frequencies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909835" y="1896666"/>
            <a:ext cx="614363" cy="414338"/>
          </a:xfrm>
          <a:prstGeom prst="rect">
            <a:avLst/>
          </a:prstGeom>
          <a:solidFill>
            <a:srgbClr val="1A365D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09835" y="1896666"/>
            <a:ext cx="614363" cy="414338"/>
          </a:xfrm>
          <a:prstGeom prst="rect">
            <a:avLst/>
          </a:prstGeom>
          <a:noFill/>
          <a:ln/>
        </p:spPr>
        <p:txBody>
          <a:bodyPr wrap="none" lIns="0" tIns="119126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923997" y="2768203"/>
            <a:ext cx="614363" cy="414338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23997" y="2768203"/>
            <a:ext cx="614363" cy="414338"/>
          </a:xfrm>
          <a:prstGeom prst="rect">
            <a:avLst/>
          </a:prstGeom>
          <a:noFill/>
          <a:ln/>
        </p:spPr>
        <p:txBody>
          <a:bodyPr wrap="none" lIns="0" tIns="119126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895672" y="2768203"/>
            <a:ext cx="614363" cy="414338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95672" y="2768203"/>
            <a:ext cx="614363" cy="414338"/>
          </a:xfrm>
          <a:prstGeom prst="rect">
            <a:avLst/>
          </a:prstGeom>
          <a:noFill/>
          <a:ln/>
        </p:spPr>
        <p:txBody>
          <a:bodyPr wrap="none" lIns="0" tIns="119126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895547" y="2396728"/>
            <a:ext cx="867463" cy="267891"/>
          </a:xfrm>
          <a:prstGeom prst="rect">
            <a:avLst/>
          </a:prstGeom>
          <a:solidFill>
            <a:srgbClr val="D7E5F2"/>
          </a:solidFill>
          <a:ln/>
        </p:spPr>
      </p:sp>
      <p:sp>
        <p:nvSpPr>
          <p:cNvPr id="31" name="Shape 28"/>
          <p:cNvSpPr/>
          <p:nvPr/>
        </p:nvSpPr>
        <p:spPr>
          <a:xfrm>
            <a:off x="5895547" y="2396728"/>
            <a:ext cx="867463" cy="14288"/>
          </a:xfrm>
          <a:prstGeom prst="rect">
            <a:avLst/>
          </a:prstGeom>
          <a:solidFill>
            <a:srgbClr val="829AB1"/>
          </a:solidFill>
          <a:ln/>
        </p:spPr>
      </p:sp>
      <p:sp>
        <p:nvSpPr>
          <p:cNvPr id="32" name="Text 29"/>
          <p:cNvSpPr/>
          <p:nvPr/>
        </p:nvSpPr>
        <p:spPr>
          <a:xfrm>
            <a:off x="5895547" y="2396728"/>
            <a:ext cx="867463" cy="267891"/>
          </a:xfrm>
          <a:prstGeom prst="rect">
            <a:avLst/>
          </a:prstGeom>
          <a:noFill/>
          <a:ln/>
        </p:spPr>
        <p:txBody>
          <a:bodyPr wrap="none" lIns="110617" tIns="68072" rIns="1106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2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859703" y="3182541"/>
            <a:ext cx="867463" cy="267891"/>
          </a:xfrm>
          <a:prstGeom prst="rect">
            <a:avLst/>
          </a:prstGeom>
          <a:solidFill>
            <a:srgbClr val="D7E5F2"/>
          </a:solidFill>
          <a:ln/>
        </p:spPr>
      </p:sp>
      <p:sp>
        <p:nvSpPr>
          <p:cNvPr id="34" name="Shape 31"/>
          <p:cNvSpPr/>
          <p:nvPr/>
        </p:nvSpPr>
        <p:spPr>
          <a:xfrm>
            <a:off x="4859703" y="3182541"/>
            <a:ext cx="867463" cy="14288"/>
          </a:xfrm>
          <a:prstGeom prst="rect">
            <a:avLst/>
          </a:prstGeom>
          <a:solidFill>
            <a:srgbClr val="829AB1"/>
          </a:solidFill>
          <a:ln/>
        </p:spPr>
      </p:sp>
      <p:sp>
        <p:nvSpPr>
          <p:cNvPr id="35" name="Text 32"/>
          <p:cNvSpPr/>
          <p:nvPr/>
        </p:nvSpPr>
        <p:spPr>
          <a:xfrm>
            <a:off x="4859703" y="3182541"/>
            <a:ext cx="867463" cy="267891"/>
          </a:xfrm>
          <a:prstGeom prst="rect">
            <a:avLst/>
          </a:prstGeom>
          <a:noFill/>
          <a:ln/>
        </p:spPr>
        <p:txBody>
          <a:bodyPr wrap="none" lIns="110617" tIns="68072" rIns="1106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4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838522" y="3182541"/>
            <a:ext cx="867463" cy="267891"/>
          </a:xfrm>
          <a:prstGeom prst="rect">
            <a:avLst/>
          </a:prstGeom>
          <a:solidFill>
            <a:srgbClr val="D7E5F2"/>
          </a:solidFill>
          <a:ln/>
        </p:spPr>
      </p:sp>
      <p:sp>
        <p:nvSpPr>
          <p:cNvPr id="37" name="Shape 34"/>
          <p:cNvSpPr/>
          <p:nvPr/>
        </p:nvSpPr>
        <p:spPr>
          <a:xfrm>
            <a:off x="6838522" y="3182541"/>
            <a:ext cx="867463" cy="14288"/>
          </a:xfrm>
          <a:prstGeom prst="rect">
            <a:avLst/>
          </a:prstGeom>
          <a:solidFill>
            <a:srgbClr val="829AB1"/>
          </a:solidFill>
          <a:ln/>
        </p:spPr>
      </p:sp>
      <p:sp>
        <p:nvSpPr>
          <p:cNvPr id="38" name="Text 35"/>
          <p:cNvSpPr/>
          <p:nvPr/>
        </p:nvSpPr>
        <p:spPr>
          <a:xfrm>
            <a:off x="6838522" y="3182541"/>
            <a:ext cx="867463" cy="267891"/>
          </a:xfrm>
          <a:prstGeom prst="rect">
            <a:avLst/>
          </a:prstGeom>
          <a:noFill/>
          <a:ln/>
        </p:spPr>
        <p:txBody>
          <a:bodyPr wrap="none" lIns="110617" tIns="68072" rIns="1106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6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4195335" y="4471988"/>
            <a:ext cx="4562847" cy="307181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= Σ (frequency × level) </a:t>
            </a: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root level = 1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4138185" y="3411141"/>
            <a:ext cx="467714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step is to test each key as a possible root and compare the weighted search costs.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57188"/>
            <a:ext cx="82296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CASE STUDY CALCULATION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560784"/>
            <a:ext cx="82296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the Three Root Choices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975122"/>
            <a:ext cx="8229600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</a:t>
            </a: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= Σ (frequency × level)</a:t>
            </a: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with the root at level 1.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420490"/>
            <a:ext cx="1314562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1: Root = 10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312901" y="1456209"/>
            <a:ext cx="77319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COST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57200" y="1684809"/>
            <a:ext cx="2628900" cy="1464469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9" name="Shape 6"/>
          <p:cNvSpPr/>
          <p:nvPr/>
        </p:nvSpPr>
        <p:spPr>
          <a:xfrm>
            <a:off x="1428750" y="1841971"/>
            <a:ext cx="414338" cy="285750"/>
          </a:xfrm>
          <a:prstGeom prst="rect">
            <a:avLst/>
          </a:prstGeom>
          <a:solidFill>
            <a:srgbClr val="1A365D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28750" y="1841971"/>
            <a:ext cx="414338" cy="285750"/>
          </a:xfrm>
          <a:prstGeom prst="rect">
            <a:avLst/>
          </a:prstGeom>
          <a:noFill/>
          <a:ln/>
        </p:spPr>
        <p:txBody>
          <a:bodyPr wrap="none" lIns="0" tIns="76581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014538" y="2427759"/>
            <a:ext cx="414338" cy="2857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14538" y="2427759"/>
            <a:ext cx="414338" cy="285750"/>
          </a:xfrm>
          <a:prstGeom prst="rect">
            <a:avLst/>
          </a:prstGeom>
          <a:noFill/>
          <a:ln/>
        </p:spPr>
        <p:txBody>
          <a:bodyPr wrap="none" lIns="0" tIns="76581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243138" y="2863528"/>
            <a:ext cx="414338" cy="2857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43138" y="2863528"/>
            <a:ext cx="414338" cy="285750"/>
          </a:xfrm>
          <a:prstGeom prst="rect">
            <a:avLst/>
          </a:prstGeom>
          <a:noFill/>
          <a:ln/>
        </p:spPr>
        <p:txBody>
          <a:bodyPr wrap="none" lIns="0" tIns="76581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7200" y="3235003"/>
            <a:ext cx="2628900" cy="559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at level 1 → 4×1</a:t>
            </a: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at level 2 → 2×2</a:t>
            </a: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at level 3 → 6×3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7200" y="3851374"/>
            <a:ext cx="26289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= 26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257550" y="1420490"/>
            <a:ext cx="1314562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2: Root = 20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386388" y="1456209"/>
            <a:ext cx="5000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3257550" y="1684809"/>
            <a:ext cx="2628900" cy="1464469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20" name="Shape 17"/>
          <p:cNvSpPr/>
          <p:nvPr/>
        </p:nvSpPr>
        <p:spPr>
          <a:xfrm>
            <a:off x="4229100" y="1841971"/>
            <a:ext cx="414338" cy="285750"/>
          </a:xfrm>
          <a:prstGeom prst="rect">
            <a:avLst/>
          </a:prstGeom>
          <a:solidFill>
            <a:srgbClr val="1A365D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29100" y="1841971"/>
            <a:ext cx="414338" cy="285750"/>
          </a:xfrm>
          <a:prstGeom prst="rect">
            <a:avLst/>
          </a:prstGeom>
          <a:noFill/>
          <a:ln/>
        </p:spPr>
        <p:txBody>
          <a:bodyPr wrap="none" lIns="0" tIns="76581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643313" y="2427759"/>
            <a:ext cx="414338" cy="2857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43313" y="2427759"/>
            <a:ext cx="414338" cy="285750"/>
          </a:xfrm>
          <a:prstGeom prst="rect">
            <a:avLst/>
          </a:prstGeom>
          <a:noFill/>
          <a:ln/>
        </p:spPr>
        <p:txBody>
          <a:bodyPr wrap="none" lIns="0" tIns="76581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814888" y="2427759"/>
            <a:ext cx="414338" cy="2857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14888" y="2427759"/>
            <a:ext cx="414338" cy="285750"/>
          </a:xfrm>
          <a:prstGeom prst="rect">
            <a:avLst/>
          </a:prstGeom>
          <a:noFill/>
          <a:ln/>
        </p:spPr>
        <p:txBody>
          <a:bodyPr wrap="none" lIns="0" tIns="76581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257550" y="3235003"/>
            <a:ext cx="2628900" cy="559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at level 1 → 2×1</a:t>
            </a: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at level 2 → 4×2</a:t>
            </a: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at level 2 → 6×2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257550" y="3851374"/>
            <a:ext cx="26289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= 22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057900" y="1420490"/>
            <a:ext cx="1314562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3: Root = 30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186738" y="1456209"/>
            <a:ext cx="5000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6057900" y="1684809"/>
            <a:ext cx="2628900" cy="1464469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31" name="Shape 28"/>
          <p:cNvSpPr/>
          <p:nvPr/>
        </p:nvSpPr>
        <p:spPr>
          <a:xfrm>
            <a:off x="7029450" y="1841971"/>
            <a:ext cx="414338" cy="285750"/>
          </a:xfrm>
          <a:prstGeom prst="rect">
            <a:avLst/>
          </a:prstGeom>
          <a:solidFill>
            <a:srgbClr val="1A365D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029450" y="1841971"/>
            <a:ext cx="414338" cy="285750"/>
          </a:xfrm>
          <a:prstGeom prst="rect">
            <a:avLst/>
          </a:prstGeom>
          <a:noFill/>
          <a:ln/>
        </p:spPr>
        <p:txBody>
          <a:bodyPr wrap="none" lIns="0" tIns="76581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443663" y="2427759"/>
            <a:ext cx="414338" cy="2857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43663" y="2427759"/>
            <a:ext cx="414338" cy="285750"/>
          </a:xfrm>
          <a:prstGeom prst="rect">
            <a:avLst/>
          </a:prstGeom>
          <a:noFill/>
          <a:ln/>
        </p:spPr>
        <p:txBody>
          <a:bodyPr wrap="none" lIns="0" tIns="76581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215063" y="2863528"/>
            <a:ext cx="414338" cy="2857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5063" y="2863528"/>
            <a:ext cx="414338" cy="285750"/>
          </a:xfrm>
          <a:prstGeom prst="rect">
            <a:avLst/>
          </a:prstGeom>
          <a:noFill/>
          <a:ln/>
        </p:spPr>
        <p:txBody>
          <a:bodyPr wrap="none" lIns="0" tIns="76581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057900" y="3235003"/>
            <a:ext cx="2628900" cy="559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at level 1 → 6×1</a:t>
            </a: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at level 2 → 2×2</a:t>
            </a: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at level 3 → 4×3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057900" y="3851374"/>
            <a:ext cx="26289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= 22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57200" y="4133552"/>
            <a:ext cx="8229600" cy="65220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57200" y="4133552"/>
            <a:ext cx="8229600" cy="21431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1" name="Text 38"/>
          <p:cNvSpPr/>
          <p:nvPr/>
        </p:nvSpPr>
        <p:spPr>
          <a:xfrm>
            <a:off x="457200" y="4240709"/>
            <a:ext cx="3044298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search cost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57200" y="4430018"/>
            <a:ext cx="3044298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3658660" y="4240709"/>
            <a:ext cx="243546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result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3658660" y="4430018"/>
            <a:ext cx="2435461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structures are equally optimal for this frequency set.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251284" y="4240709"/>
            <a:ext cx="243546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rule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6251284" y="4430018"/>
            <a:ext cx="2435461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root arrangement with the lowest weighted path length.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5763"/>
            <a:ext cx="82296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DYNAMIC-PROGRAMMING TABLE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603647"/>
            <a:ext cx="82296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spc="-1" kern="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 Dynamic-Programming Table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57200" y="1092994"/>
            <a:ext cx="7715250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C[i][j]</a:t>
            </a:r>
            <a:r>
              <a:rPr lang="en-US" sz="12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stores the minimum search cost for the ordered keys from position </a:t>
            </a:r>
            <a:r>
              <a:rPr lang="en-US" sz="125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2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through position </a:t>
            </a:r>
            <a:r>
              <a:rPr lang="en-US" sz="125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r>
              <a:rPr lang="en-US" sz="12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1674484"/>
            <a:ext cx="4443971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table for keys 10, 20, 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935231"/>
            <a:ext cx="857250" cy="385763"/>
          </a:xfrm>
          <a:prstGeom prst="rect">
            <a:avLst/>
          </a:prstGeom>
          <a:solidFill>
            <a:srgbClr val="E7EEF3"/>
          </a:solidFill>
          <a:ln w="9144">
            <a:solidFill>
              <a:srgbClr val="829AB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935231"/>
            <a:ext cx="8572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C[i][j]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314450" y="1935231"/>
            <a:ext cx="857250" cy="385763"/>
          </a:xfrm>
          <a:prstGeom prst="rect">
            <a:avLst/>
          </a:prstGeom>
          <a:solidFill>
            <a:srgbClr val="1A365D"/>
          </a:solidFill>
          <a:ln w="9144">
            <a:solidFill>
              <a:srgbClr val="829AB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14450" y="1935231"/>
            <a:ext cx="8572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171700" y="1935231"/>
            <a:ext cx="857250" cy="385763"/>
          </a:xfrm>
          <a:prstGeom prst="rect">
            <a:avLst/>
          </a:prstGeom>
          <a:solidFill>
            <a:srgbClr val="1A365D"/>
          </a:solidFill>
          <a:ln w="9144">
            <a:solidFill>
              <a:srgbClr val="829AB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71700" y="1935231"/>
            <a:ext cx="8572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028950" y="1935231"/>
            <a:ext cx="857250" cy="385763"/>
          </a:xfrm>
          <a:prstGeom prst="rect">
            <a:avLst/>
          </a:prstGeom>
          <a:solidFill>
            <a:srgbClr val="1A365D"/>
          </a:solidFill>
          <a:ln w="9144">
            <a:solidFill>
              <a:srgbClr val="829AB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28950" y="1935231"/>
            <a:ext cx="85725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320993"/>
            <a:ext cx="857250" cy="585788"/>
          </a:xfrm>
          <a:prstGeom prst="rect">
            <a:avLst/>
          </a:prstGeom>
          <a:solidFill>
            <a:srgbClr val="E7EEF3"/>
          </a:solidFill>
          <a:ln w="9144">
            <a:solidFill>
              <a:srgbClr val="829AB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320993"/>
            <a:ext cx="857250" cy="5857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314450" y="2320993"/>
            <a:ext cx="857250" cy="585788"/>
          </a:xfrm>
          <a:prstGeom prst="rect">
            <a:avLst/>
          </a:prstGeom>
          <a:solidFill>
            <a:srgbClr val="E7EEF3"/>
          </a:solidFill>
          <a:ln w="9144">
            <a:solidFill>
              <a:srgbClr val="829AB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14450" y="2320993"/>
            <a:ext cx="857250" cy="5857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171700" y="2320993"/>
            <a:ext cx="857250" cy="585788"/>
          </a:xfrm>
          <a:prstGeom prst="rect">
            <a:avLst/>
          </a:prstGeom>
          <a:solidFill>
            <a:srgbClr val="D7E5F2"/>
          </a:solidFill>
          <a:ln w="9144">
            <a:solidFill>
              <a:srgbClr val="829AB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171700" y="2320993"/>
            <a:ext cx="857250" cy="5857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028950" y="2320993"/>
            <a:ext cx="857250" cy="585788"/>
          </a:xfrm>
          <a:prstGeom prst="rect">
            <a:avLst/>
          </a:prstGeom>
          <a:solidFill>
            <a:srgbClr val="1A365D"/>
          </a:solidFill>
          <a:ln w="9144">
            <a:solidFill>
              <a:srgbClr val="829AB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028950" y="2320993"/>
            <a:ext cx="857250" cy="5857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57200" y="2906781"/>
            <a:ext cx="857250" cy="585788"/>
          </a:xfrm>
          <a:prstGeom prst="rect">
            <a:avLst/>
          </a:prstGeom>
          <a:solidFill>
            <a:srgbClr val="E7EEF3"/>
          </a:solidFill>
          <a:ln w="9144">
            <a:solidFill>
              <a:srgbClr val="829AB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906781"/>
            <a:ext cx="857250" cy="5857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71700" y="2906781"/>
            <a:ext cx="857250" cy="585788"/>
          </a:xfrm>
          <a:prstGeom prst="rect">
            <a:avLst/>
          </a:prstGeom>
          <a:solidFill>
            <a:srgbClr val="E7EEF3"/>
          </a:solidFill>
          <a:ln w="9144">
            <a:solidFill>
              <a:srgbClr val="829AB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71700" y="2906781"/>
            <a:ext cx="857250" cy="5857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028950" y="2906781"/>
            <a:ext cx="857250" cy="585788"/>
          </a:xfrm>
          <a:prstGeom prst="rect">
            <a:avLst/>
          </a:prstGeom>
          <a:solidFill>
            <a:srgbClr val="D7E5F2"/>
          </a:solidFill>
          <a:ln w="9144">
            <a:solidFill>
              <a:srgbClr val="829AB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028950" y="2906781"/>
            <a:ext cx="857250" cy="5857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492568"/>
            <a:ext cx="857250" cy="585788"/>
          </a:xfrm>
          <a:prstGeom prst="rect">
            <a:avLst/>
          </a:prstGeom>
          <a:solidFill>
            <a:srgbClr val="E7EEF3"/>
          </a:solidFill>
          <a:ln w="9144">
            <a:solidFill>
              <a:srgbClr val="829AB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3492568"/>
            <a:ext cx="857250" cy="5857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028950" y="3492568"/>
            <a:ext cx="857250" cy="585788"/>
          </a:xfrm>
          <a:prstGeom prst="rect">
            <a:avLst/>
          </a:prstGeom>
          <a:solidFill>
            <a:srgbClr val="E7EEF3"/>
          </a:solidFill>
          <a:ln w="9144">
            <a:solidFill>
              <a:srgbClr val="829AB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028950" y="3492568"/>
            <a:ext cx="857250" cy="5857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7200" y="4178368"/>
            <a:ext cx="3500438" cy="32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table:</a:t>
            </a:r>
            <a:r>
              <a:rPr lang="en-US" sz="90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diagonal cells are single-key base cases; </a:t>
            </a:r>
            <a:r>
              <a:rPr lang="en-US" sz="90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above the diagonal represent larger key ranges.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444096" y="1538753"/>
            <a:ext cx="358554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larger ranges are built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5444096" y="1860221"/>
            <a:ext cx="257175" cy="2571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6" name="Text 33"/>
          <p:cNvSpPr/>
          <p:nvPr/>
        </p:nvSpPr>
        <p:spPr>
          <a:xfrm>
            <a:off x="5444096" y="1860221"/>
            <a:ext cx="257175" cy="257175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822714" y="1860221"/>
            <a:ext cx="320693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 single-key trees: </a:t>
            </a: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4, 2, 6</a:t>
            </a: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444096" y="2245984"/>
            <a:ext cx="257175" cy="2571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9" name="Text 36"/>
          <p:cNvSpPr/>
          <p:nvPr/>
        </p:nvSpPr>
        <p:spPr>
          <a:xfrm>
            <a:off x="5444096" y="2245984"/>
            <a:ext cx="257175" cy="257175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822714" y="2245984"/>
            <a:ext cx="3206930" cy="366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two-key range, try both possible roots and </a:t>
            </a: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the smaller cost: </a:t>
            </a: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444096" y="2741023"/>
            <a:ext cx="257175" cy="2571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2" name="Text 39"/>
          <p:cNvSpPr/>
          <p:nvPr/>
        </p:nvSpPr>
        <p:spPr>
          <a:xfrm>
            <a:off x="5444096" y="2741023"/>
            <a:ext cx="257175" cy="257175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822714" y="2741023"/>
            <a:ext cx="3206930" cy="366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full range </a:t>
            </a: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[10, 20, 30]</a:t>
            </a: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try roots 10, 20, and </a:t>
            </a: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444096" y="3364650"/>
            <a:ext cx="3585549" cy="2174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Full-range comparison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5444096" y="3632150"/>
            <a:ext cx="3585549" cy="227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 10 → 26 | Root 20 → 22 | Root 30 → 22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5444096" y="3960037"/>
            <a:ext cx="3585549" cy="728663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7" name="Text 44"/>
          <p:cNvSpPr/>
          <p:nvPr/>
        </p:nvSpPr>
        <p:spPr>
          <a:xfrm>
            <a:off x="5572683" y="4067194"/>
            <a:ext cx="158502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C[1][3] = 22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5572683" y="4281506"/>
            <a:ext cx="332837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9C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table records the best cost; a root table can record which key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5572683" y="4449384"/>
            <a:ext cx="332837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9C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produced it.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5763"/>
            <a:ext cx="82296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IMPLEMENTATION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603647"/>
            <a:ext cx="82296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spc="-1" kern="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and Working Flow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57200" y="1307306"/>
            <a:ext cx="427938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OBST algorithm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603772"/>
            <a:ext cx="257175" cy="2571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603772"/>
            <a:ext cx="257175" cy="257175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42963" y="1635919"/>
            <a:ext cx="170255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the keys if necessary.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42963" y="1813173"/>
            <a:ext cx="1711040" cy="1462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5B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BST order must be preserved.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639727" y="1603772"/>
            <a:ext cx="257175" cy="2571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8"/>
          <p:cNvSpPr/>
          <p:nvPr/>
        </p:nvSpPr>
        <p:spPr>
          <a:xfrm>
            <a:off x="2639727" y="1603772"/>
            <a:ext cx="257175" cy="257175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025490" y="1635919"/>
            <a:ext cx="1063693" cy="323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the search frequencies.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025490" y="1986855"/>
            <a:ext cx="1711096" cy="1462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5B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successful-search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025490" y="2147422"/>
            <a:ext cx="1711096" cy="1462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5B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frequencies p₁ … pₙ.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2336564"/>
            <a:ext cx="257175" cy="2571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2336564"/>
            <a:ext cx="257175" cy="257175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42963" y="2368711"/>
            <a:ext cx="139286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 the DP table.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42963" y="2545966"/>
            <a:ext cx="1711040" cy="1462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5B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Single-key ranges are the base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42963" y="2706532"/>
            <a:ext cx="1711040" cy="1462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5B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639727" y="2336564"/>
            <a:ext cx="257175" cy="2571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1" name="Text 18"/>
          <p:cNvSpPr/>
          <p:nvPr/>
        </p:nvSpPr>
        <p:spPr>
          <a:xfrm>
            <a:off x="2639727" y="2336564"/>
            <a:ext cx="257175" cy="257175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025490" y="2368711"/>
            <a:ext cx="1176877" cy="323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ranges of increasing length.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025490" y="2719648"/>
            <a:ext cx="1711096" cy="1462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5B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larger solutions from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025490" y="2880215"/>
            <a:ext cx="1711096" cy="1462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5B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ones.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3069357"/>
            <a:ext cx="257175" cy="2571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3069357"/>
            <a:ext cx="257175" cy="257175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42963" y="3101504"/>
            <a:ext cx="1162310" cy="323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every key as a possible root.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42963" y="3452440"/>
            <a:ext cx="1711040" cy="1462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5B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the left and right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842963" y="3613007"/>
            <a:ext cx="1711040" cy="1462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5B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subtrees.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639727" y="3069357"/>
            <a:ext cx="257175" cy="2571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1" name="Text 28"/>
          <p:cNvSpPr/>
          <p:nvPr/>
        </p:nvSpPr>
        <p:spPr>
          <a:xfrm>
            <a:off x="2639727" y="3069357"/>
            <a:ext cx="257175" cy="257175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025490" y="3101504"/>
            <a:ext cx="1486067" cy="323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and compare costs.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3025490" y="3452440"/>
            <a:ext cx="1711096" cy="1462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5B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cost + right cost + frequency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3025490" y="3613007"/>
            <a:ext cx="1711096" cy="1462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5B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3802149"/>
            <a:ext cx="257175" cy="2571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3802149"/>
            <a:ext cx="257175" cy="257175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842963" y="3834296"/>
            <a:ext cx="1508336" cy="323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the minimum and selected root.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842963" y="4185233"/>
            <a:ext cx="1711040" cy="1462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5B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information supports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842963" y="4345800"/>
            <a:ext cx="1711040" cy="1462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5B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reconstruction.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2639727" y="3802149"/>
            <a:ext cx="257175" cy="257175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1" name="Text 38"/>
          <p:cNvSpPr/>
          <p:nvPr/>
        </p:nvSpPr>
        <p:spPr>
          <a:xfrm>
            <a:off x="2639727" y="3802149"/>
            <a:ext cx="257175" cy="257175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3025490" y="3834296"/>
            <a:ext cx="1553598" cy="323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 the optimal BST.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3025490" y="4185233"/>
            <a:ext cx="1711096" cy="1462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5B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the minimum expected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3025490" y="4345800"/>
            <a:ext cx="1711096" cy="1462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50" dirty="0">
                <a:solidFill>
                  <a:srgbClr val="5B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cost.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57200" y="4563517"/>
            <a:ext cx="4279385" cy="230721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table records both the best cost and the root that achieved it.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5079485" y="1164431"/>
            <a:ext cx="3950159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flow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5079485" y="1460897"/>
            <a:ext cx="3950159" cy="3096816"/>
          </a:xfrm>
          <a:prstGeom prst="rect">
            <a:avLst/>
          </a:prstGeom>
          <a:solidFill>
            <a:srgbClr val="E7EEF3"/>
          </a:solidFill>
          <a:ln/>
        </p:spPr>
      </p:sp>
      <p:sp>
        <p:nvSpPr>
          <p:cNvPr id="48" name="Shape 45"/>
          <p:cNvSpPr/>
          <p:nvPr/>
        </p:nvSpPr>
        <p:spPr>
          <a:xfrm>
            <a:off x="5840127" y="1503759"/>
            <a:ext cx="2428875" cy="2857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840127" y="1503759"/>
            <a:ext cx="2428875" cy="28575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keys + frequencies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7043849" y="1832372"/>
            <a:ext cx="21431" cy="57150"/>
          </a:xfrm>
          <a:prstGeom prst="rect">
            <a:avLst/>
          </a:prstGeom>
          <a:solidFill>
            <a:srgbClr val="829AB1"/>
          </a:solidFill>
          <a:ln/>
        </p:spPr>
      </p:sp>
      <p:sp>
        <p:nvSpPr>
          <p:cNvPr id="51" name="Shape 48"/>
          <p:cNvSpPr/>
          <p:nvPr/>
        </p:nvSpPr>
        <p:spPr>
          <a:xfrm>
            <a:off x="5840127" y="1932384"/>
            <a:ext cx="2428875" cy="2857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840127" y="1932384"/>
            <a:ext cx="2428875" cy="28575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DP table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7043849" y="2260997"/>
            <a:ext cx="21431" cy="57150"/>
          </a:xfrm>
          <a:prstGeom prst="rect">
            <a:avLst/>
          </a:prstGeom>
          <a:solidFill>
            <a:srgbClr val="829AB1"/>
          </a:solidFill>
          <a:ln/>
        </p:spPr>
      </p:sp>
      <p:sp>
        <p:nvSpPr>
          <p:cNvPr id="54" name="Shape 51"/>
          <p:cNvSpPr/>
          <p:nvPr/>
        </p:nvSpPr>
        <p:spPr>
          <a:xfrm>
            <a:off x="5840127" y="2361009"/>
            <a:ext cx="2428875" cy="2857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840127" y="2361009"/>
            <a:ext cx="2428875" cy="28575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subranges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7043849" y="2689622"/>
            <a:ext cx="21431" cy="57150"/>
          </a:xfrm>
          <a:prstGeom prst="rect">
            <a:avLst/>
          </a:prstGeom>
          <a:solidFill>
            <a:srgbClr val="829AB1"/>
          </a:solidFill>
          <a:ln/>
        </p:spPr>
      </p:sp>
      <p:sp>
        <p:nvSpPr>
          <p:cNvPr id="57" name="Shape 54"/>
          <p:cNvSpPr/>
          <p:nvPr/>
        </p:nvSpPr>
        <p:spPr>
          <a:xfrm>
            <a:off x="5840127" y="2789634"/>
            <a:ext cx="2428875" cy="2857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840127" y="2789634"/>
            <a:ext cx="2428875" cy="28575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every possible root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7043849" y="3118247"/>
            <a:ext cx="21431" cy="57150"/>
          </a:xfrm>
          <a:prstGeom prst="rect">
            <a:avLst/>
          </a:prstGeom>
          <a:solidFill>
            <a:srgbClr val="829AB1"/>
          </a:solidFill>
          <a:ln/>
        </p:spPr>
      </p:sp>
      <p:sp>
        <p:nvSpPr>
          <p:cNvPr id="60" name="Shape 57"/>
          <p:cNvSpPr/>
          <p:nvPr/>
        </p:nvSpPr>
        <p:spPr>
          <a:xfrm>
            <a:off x="5840127" y="3218259"/>
            <a:ext cx="2428875" cy="2857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840127" y="3218259"/>
            <a:ext cx="2428875" cy="28575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cost and choose minimum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7043849" y="3546872"/>
            <a:ext cx="21431" cy="57150"/>
          </a:xfrm>
          <a:prstGeom prst="rect">
            <a:avLst/>
          </a:prstGeom>
          <a:solidFill>
            <a:srgbClr val="829AB1"/>
          </a:solidFill>
          <a:ln/>
        </p:spPr>
      </p:sp>
      <p:sp>
        <p:nvSpPr>
          <p:cNvPr id="63" name="Shape 60"/>
          <p:cNvSpPr/>
          <p:nvPr/>
        </p:nvSpPr>
        <p:spPr>
          <a:xfrm>
            <a:off x="5840127" y="3646884"/>
            <a:ext cx="2428875" cy="285750"/>
          </a:xfrm>
          <a:prstGeom prst="rect">
            <a:avLst/>
          </a:prstGeom>
          <a:solidFill>
            <a:srgbClr val="1A365D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840127" y="3646884"/>
            <a:ext cx="2428875" cy="28575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 optimal BST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5840127" y="3932634"/>
            <a:ext cx="2428875" cy="139303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B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selected roots define the final tree structure.</a:t>
            </a:r>
            <a:endParaRPr lang="en-US" sz="750" dirty="0"/>
          </a:p>
        </p:txBody>
      </p:sp>
      <p:sp>
        <p:nvSpPr>
          <p:cNvPr id="66" name="Shape 63"/>
          <p:cNvSpPr/>
          <p:nvPr/>
        </p:nvSpPr>
        <p:spPr>
          <a:xfrm>
            <a:off x="7043849" y="4114800"/>
            <a:ext cx="21431" cy="57150"/>
          </a:xfrm>
          <a:prstGeom prst="rect">
            <a:avLst/>
          </a:prstGeom>
          <a:solidFill>
            <a:srgbClr val="829AB1"/>
          </a:solidFill>
          <a:ln/>
        </p:spPr>
      </p:sp>
      <p:sp>
        <p:nvSpPr>
          <p:cNvPr id="67" name="Shape 64"/>
          <p:cNvSpPr/>
          <p:nvPr/>
        </p:nvSpPr>
        <p:spPr>
          <a:xfrm>
            <a:off x="5840127" y="4214813"/>
            <a:ext cx="2428875" cy="285750"/>
          </a:xfrm>
          <a:prstGeom prst="rect">
            <a:avLst/>
          </a:prstGeom>
          <a:solidFill>
            <a:srgbClr val="1A365D"/>
          </a:solidFill>
          <a:ln w="18288">
            <a:solidFill>
              <a:srgbClr val="1A365D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840127" y="4214813"/>
            <a:ext cx="2428875" cy="285750"/>
          </a:xfrm>
          <a:prstGeom prst="rect">
            <a:avLst/>
          </a:prstGeom>
          <a:noFill/>
          <a:ln/>
        </p:spPr>
        <p:txBody>
          <a:bodyPr wrap="square" lIns="68072" tIns="51054" rIns="68072" bIns="51054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minimum search cost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5763"/>
            <a:ext cx="82296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TAKEAWAY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603647"/>
            <a:ext cx="82296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spc="-1" kern="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Benefits, Limitations, and Conclusion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57200" y="1235869"/>
            <a:ext cx="398621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1528763"/>
            <a:ext cx="200025" cy="202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000" b="1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14375" y="1528763"/>
            <a:ext cx="3729038" cy="202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Minimizes expected search cost using known frequencies.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1774496"/>
            <a:ext cx="200025" cy="202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000" b="1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4375" y="1774496"/>
            <a:ext cx="3729038" cy="202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Places frequently accessed keys closer to the root.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2020230"/>
            <a:ext cx="200025" cy="202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000" b="1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14375" y="2020230"/>
            <a:ext cx="3729038" cy="202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Systematically compares all valid root arrangements.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2265964"/>
            <a:ext cx="200025" cy="405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000" b="1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14375" y="2265964"/>
            <a:ext cx="3729038" cy="405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Avoids repeated calculations through dynamic programming.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2714569"/>
            <a:ext cx="200025" cy="202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000" b="1" dirty="0">
                <a:solidFill>
                  <a:srgbClr val="829A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14375" y="2714569"/>
            <a:ext cx="3729038" cy="202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well for static or relatively stable datasets.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700588" y="1235869"/>
            <a:ext cx="398621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700588" y="1528763"/>
            <a:ext cx="200025" cy="202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957763" y="1528763"/>
            <a:ext cx="3729038" cy="202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reliable frequency or probability information.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700588" y="1774496"/>
            <a:ext cx="200025" cy="202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957763" y="1774496"/>
            <a:ext cx="3729038" cy="202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complex than constructing an ordinary BST.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700588" y="2020230"/>
            <a:ext cx="200025" cy="202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957763" y="2020230"/>
            <a:ext cx="3729038" cy="202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programming requires additional memory.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700588" y="2265964"/>
            <a:ext cx="200025" cy="405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957763" y="2265964"/>
            <a:ext cx="3729038" cy="405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tree may need rebuilding when frequencies change significantly.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700588" y="2714569"/>
            <a:ext cx="200025" cy="202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957763" y="2714569"/>
            <a:ext cx="3729038" cy="202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suitable when search patterns change continuously.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" y="3103178"/>
            <a:ext cx="8229600" cy="96652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457200" y="3103178"/>
            <a:ext cx="8229600" cy="21431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3188903"/>
            <a:ext cx="82296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case study demonstrates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457200" y="3467509"/>
            <a:ext cx="26669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BST structure matters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3696109"/>
            <a:ext cx="23716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shapes create different search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57200" y="3879335"/>
            <a:ext cx="17954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even for the same keys.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238463" y="3467509"/>
            <a:ext cx="26670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Frequencies guide placement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238463" y="3696109"/>
            <a:ext cx="255763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frequently searched keys benefit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238463" y="3879335"/>
            <a:ext cx="11843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shallow levels.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019781" y="3467509"/>
            <a:ext cx="26670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 finds the minimum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019781" y="3696109"/>
            <a:ext cx="253497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possible roots reveals the best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019781" y="3879335"/>
            <a:ext cx="13581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arrangement and cost.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57200" y="4176861"/>
            <a:ext cx="8229600" cy="78999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0" name="Text 37"/>
          <p:cNvSpPr/>
          <p:nvPr/>
        </p:nvSpPr>
        <p:spPr>
          <a:xfrm>
            <a:off x="600075" y="4276874"/>
            <a:ext cx="784244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goal is not just to build a BST, but to build the BST that makes the most frequently used searches as efficient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600075" y="4499725"/>
            <a:ext cx="86662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possible.”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600075" y="4751152"/>
            <a:ext cx="7943850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spc="1" kern="0" dirty="0">
                <a:solidFill>
                  <a:srgbClr val="A9C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BINARY SEARCH TREE — FINAL TAKEAWAY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2026-08-18T08:38:07Z</dcterms:created>
  <dcterms:modified xsi:type="dcterms:W3CDTF">2026-08-18T08:38:07Z</dcterms:modified>
</cp:coreProperties>
</file>